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66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Leroy opens (about 15 seconds). “We’re looking at small modular reactors: where they would actually cut the most carbon, what stops them being built, and one materials change we think makes them better.” Then introduce the three speakers and their parts: Leroy on the problem and the technology, Sam on the life-cycle numbers, Victor on law, cost and public support.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Leroy (~1 min). The 640 g CO₂e/kWh figure is the published NSW grid-average, location-based electricity factor, and represents operational grid emissions. The 5–6 g is a UNECE estimate for conventional nuclear across its full lifecycle, not a measured BWRX-300 number. Therefore these figures are not identical system boundaries; they illustrate the broad contrast only. The next slides describe an actual project and then quantify a specific construction material change. Sources: DCCEEW National Greenhouse Accounts Factors 2025; UNECE Life Cycle Assessment of Electricity Generation Options (2021).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Leroy (about 1 minute). The BWRX-300 is GE Vernova Hitachi’s 300-megawatt boiling water reactor. Three points: it is small, about a fifth the size of a large reactor; it cools itself passively, with water circulating naturally and isolation condensers, so no pumps are needed to remove heat after shutdown; and GE Hitachi claims it uses less than half as much concrete and building volume per MW as its large ESBWR. Stress that this is the vendor’s claim, compared with their own large design, and it hasn’t been independently verified yet. Transition: “The first real test of those claims is being built right now in Canada.”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Leroy (about 1 minute). Walk the timeline left to right. OPG applied for its construction licence in October 2022; the regulator granted it in April 2025; in May 2025 Ontario approved construction of Unit 1, within a C$20.9 billion budget for all four units (1,200 MW); Unit 1 is expected in service in October 2030, according to OPG’s Ontario Energy Board filing. Divide C$20.9 billion by 1,200 MW and you get about C$17 million per MW. That makes Darlington the first Western SMR with both a construction licence and a full budget, which is why our analysis uses it. Transition: “Here’s what we propose to do differently.”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Leroy (~1 minute 15 sec). Our materials-engineering proposal is to evaluate limestone calcined clay cement (LC³) for future BWRX-300 units at Darlington. The Canadian regulator currently licenses construction of Unit 1; Units 2–4 would require future licensing. Start with suitable non-safety-related site structures, then investigate use in structural or steel-composite reactor modules only after a dedicated qualification programme. This is NOT an approved material substitution. For screening, use the GE-Hitachi-supplied 2023 Polish BWRX-300 project estimate of 50,000 m³ of concrete for ONE plant—NOT a measured Darlington amount. The eligible percentage must be identified with OPG/design documentation; our example later assumes 40% only to illustrate method. Liddell in NSW remains a separate hypothetical deployment comparison, not the materials field trial. Primary data: BWRX-300 Ostrołęka (2023), Project Information Sheet, Table 14 p.83: https://am.lrv.lt/media/viesa/saugykla/2024/2/oHCKCUp7Lrs.pdf ; CNSC Darlington Project https://www.cnsc-ccsn.gc.ca/eng/reactors/new-reactor-power-plant-projects/new-reactor-power-plant-facilities/darlington-new-nuclear-project/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 (~1 minute). The system boundary is cradle-to-grave and the functional unit is 1 MWh sent to the grid. But our OWN Granta Eco Audit is a screening assessment of the construction materials module, NOT a complete nuclear power plant LCA. Uranium mining, conversion, enrichment, fabrication, operation, spent fuel and decommissioning rely on peer-reviewed/agency literature and need explicit treatment in the report. A 2023 Polish BWRX-300 environmental project sheet reports 50,000 m³ concrete, 6,000 t steel elements and 8,000 t modular steel components per 300 MWe plant. These are project design estimates supplied by GE-Hitachi and are NOT Darlington as-built figures. Do not double count the reactor pressure vessel or piping unless the mass categories are confirmed. Our inventory is an illustrative bill of materials, and only an eligible share of concrete would be replaced. The use-phase claims and BWRX-300 lifetime carbon intensity cannot be validated by Granta alone. Cite: https://am.lrv.lt/media/viesa/saugykla/2024/2/oHCKCUp7Lrs.pdf (Table 14 PDF page 83), ISO 14040 and 14044.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 (~1.5 minutes). We have replaced the earlier hypothetical emission intensities with PUBLISHED NUMBERS from a peer-reviewed experimental/LCA study: Pillai et al. (2019), Cement and Concrete Research 118, 111–119, Table 2. M50-strength-category Portland concrete OPC-2 had a modelled cradle-to-gate carbon footprint of 380 kg CO2-eq per m3 and a mean 28-day cube strength of 60.0 MPa. M50-class limestone-calcined clay concrete LC3-2 had 270 kg CO2-eq/m3 and 56.7 MPa. Difference: 110 kg CO2-eq/m3, or 28.9%. These mixes were formulated and assessed for an Indian-context study; they are NOT an Ontario EPD nor certified for nuclear service. The source models material extraction, production, transport and ready-mix concrete manufacture through the plant gate; it does NOT measure a nuclear power plant lifecycle. A 2023 Polish BWRX-300 Project Information Sheet, Table 14, reports 50,000 m3 of concrete estimated for ONE 300 MWe unit. To illustrate Darlington, we assume only 40% of that total may be eligible for LC3 substitution, giving 20,000 m3 × 110 kg = 2,200 t CO2-eq per unit. The 40% eligibility share is NOT independently established: the true quantity could be smaller or zero until design/safety review. The result is not a measured Darlington saving, a whole-reactor life-cycle emission factor, nor our team's Granta result. For Darlington Units 2–4, the equivalent conditional scenario would be 3 × 2,200 = 6,600 t CO2-eq; do not claim as real savings. Materials selection would need actual strength/performance specs, tested concrete mix designs, Ontario EPDs, applicable nuclear standards and confirmation of how much concrete is eligible. Same technical input factors must be used on Slide 8 sensitivity examples. Primary paper full text: https://lc3.ch/wp-content/uploads/2022/03/Pillai-et-al.-2019-Service-life-and-life-cycle-assessment-of-reinforc.pdf ; DOI https://doi.org/10.1016/j.cemconres.2018.11.019 . Polish project https://am.lrv.lt/media/viesa/saugykla/2024/2/oHCKCUp7Lrs.pdf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 (~1 minute). The published M50 concrete carbon intensities are 380 kg CO2-eq/m3 for OPC and 270 for LC3 from Pillai et al. (2019) Table 2; difference 110 kg/m3. Under the SAME Polish 50,000 m3 BWRX-300 reference quantity, 20% concrete eligibility would mean 10,000 m3 replaced, saving 1,100 tonnes; 40% yields 20,000 m3 and 2,200 tonnes; 60% yields 30,000 m3 and 3,300 tonnes. None of the substitution fractions is verified for Darlington. The study's concrete mixes come from a non-Canadian context and do not prove compatibility with nuclear safety structures. Three technical tests: workability for steel-plate composites, heat/shrinkage/durability and project-specific nuclear qualification. Non-safety works first; safety-critical use conditional on design validation and regulator acceptance. CSA N287.2 is for materials in nuclear concrete containment structures; requirements for other structures depend on classification. Further research should obtain local EPDs, grade-specific specifications, admissible quantities, supplier logistics and curing/performance testing. Sources: Pillai et al 2019 DOI https://doi.org/10.1016/j.cemconres.2018.11.019; Polish project https://am.lrv.lt/media/viesa/saugykla/2024/2/oHCKCUp7Lrs.pdf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Victor (~1 min). A transparent SCREENING EXAMPLE: at 300 MWe and 90% capacity factor, generation is 2.365 TWh/year. Avoided emissions if displacing each area's present-day AVERAGE intensity, using 6 g CO₂e/kWh illustrative nuclear LCA, are ~1.50 Mt CO₂e/year for NSW and 0.07–0.16 Mt for Ontario. This is not a validated forecast, and average grid carbon factors should not be mistaken for true hour-by-hour marginal generation avoided. Future grid decarbonisation and realistic project timelines could reverse or reduce this apparent gap. Darlington's value should be compared with actual marginal sources/dispatch, not simply average Ontario electricity. Source figures from presentation references; values should be confirmed against primary sources for the actual year.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(about 1 minute). The first barrier is legal. Three laws stand in the way at Liddell. Section 140A of the federal EPBC Act stops the Environment Minister approving a nuclear power plant. Section 10 of the ARPANS Act stops ARPANSA, the national radiation regulator, from licensing one. And NSW’s own 1986 Act bans nuclear power reactors in the state (research reactors like Lucas Heights are exempt). The site owner, AGL, has also ruled out nuclear at Liddell. Even after repeal there’s a gap: ARPANSA only regulates Commonwealth entities, so a private operator would need a new licensing role. Politics: repeal needs a Senate majority, and both Labor and the Greens oppose it. A NSW repeal bill passed the upper house in May 2026 but has stalled in the lower house. In Canada, with an experienced regulator, OPG’s construction licence alone took 29 months. The non-technical solution is legislation plus a capable independent regulator, which needs political will that isn’t there yet. PROVISIONAL: confirm against the Acts and Hansard (02_Research/briefs/law-and-regulation.md). Transition: “Even if the law changed, there’s the cost.”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(about 1 minute). Second barrier: cost. CSIRO’s GenCost reports (2024–25 and the current 2025–26 edition) rank SMRs as the most expensive new-build option in Australia. That holds even with real Darlington cost data, which landed inside CSIRO’s projected range. Renewables with firming and transmission are cheapest. The US warning is NuScale’s Carbon Free Power Project, planned at Idaho National Laboratory for a group of Utah utilities. Its target power price rose 53%, from $58 to $89 per MWh (2020 and 2022 dollars, so partly inflation), and the $89 already included about $30 per MWh of Inflation Reduction Act credits and Department of Energy support. Too few utilities signed up, and the 462 MW project was cancelled in November 2023. DOE had obligated about $232 million to it. Non-technical solution: someone has to carry the first-of-a-kind risk. In Canada the province and federal funds are taking equity stakes in Darlington. VICTOR TO CHECK: if asked for a number, the GenCost 2023–24 SMR range for 2030 was reported as $387–641/MWh; confirm in the report before quoting it. Transition: “Cost is one thing; does the public want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(about 1 minute). Third barrier: social licence. In the 2024 Lowy Institute Poll, 61% of Australians supported using nuclear power for electricity and 37% opposed it. So national support exists, but it is not consent from a host community. Perceived versus actual risk: per unit of electricity, nuclear has caused about 0.03 deaths per TWh, including Chernobyl and Fukushima, against about 24.6 for coal, mostly from air pollution (Our World in Data). People fear the accident, not the everyday pollution. Non-technical solutions: real consent from the Hunter community and First Nations, a waste plan agreed before construction, and local benefit sharing. VICTOR TO CHECK: confirm the coal figure (24.6) on the Our World in Data chart before presenting. Transition: “Last barrier: where the fuel comes from.”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(about 1 minute). Fourth barrier: fuel supply. Australia holds about 28% of the world’s identified recoverable uranium, the largest share of any country (NEA/IAEA Red Book 2024). But we mine it and ship it as ore concentrate: there is no conversion or enrichment here. Russia holds about 43% of global enrichment capacity (42.8% in 2025, World Nuclear Association). The Herfindahl-Hirschman index (HHI) adds up the squared market shares; the US DOJ/FTC 2023 Merger Guidelines treat anything above 1,800 as highly concentrated. Enrichment comes out at about 3,000, 3,600 without Russia, and about 5,600 once China is also excluded, when it is essentially just Urenco and Orano. Uranium mining (2,341) and conversion (2,111) are also highly concentrated. That is a geopolitical risk for any reactor here. Mitigation (it reduces a buyer’s exposure, not the HHI): long-term contracts with allied enrichers such as Urenco and Orano, and over time, possibly domestic conversion. PROVISIONAL: these figures come from search extracts of the WNA pages, not the pages themselves (network blocked). Confirm them before submitting. Working: 03_LCA_Calculations/results/hhi.md. Transition: “So, is it worth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Victor (~1 minute) and close. Separate TWO questions. 1) Darlington materials proposal: could a qualification programme for LC³ lower construction emissions without compromising structural integrity or slowing the first commercial demonstration? Use suitable non-safety works first and collect real material-specific EPD data, tests and construction quantities. On present screening assumptions, the saving is about 2,200 t CO₂e per unit and is not yet a verified Granta number. 2) The Australian nuclear question: SMRs can generate low-lifecycle-carbon electricity, but have high project cost, licensing barriers, grid-displacement uncertainties and long lead times. Our conclusion is conditional, not an anti-nuclear claim: better concrete helps but does not solve financing, licensing or timing. Remove any energy-per-dollar multiplier until sensitivity calculations and system boundaries are confirmed. Mention that we would update the triple-bottom-line assessment after the life-cycle results and stakeholder analysis are complete.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full URLs for the revised technical analysis:</a:t>
            </a:r>
          </a:p>
          <a:p>
            <a:r>
              <a:t>BWRX-300 Ostrołęka sp. z o.o. (2023) Project Information Sheet, Table 14, PDF p.83: https://am.lrv.lt/media/viesa/saugykla/2024/2/oHCKCUp7Lrs.pdf</a:t>
            </a:r>
          </a:p>
          <a:p>
            <a:r>
              <a:t>Scrivener, K. et al. (2018) Calcined clay limestone cements (LC3), Cement and Concrete Research 114:49–56: https://doi.org/10.1016/j.cemconres.2017.08.017</a:t>
            </a:r>
          </a:p>
          <a:p>
            <a:r>
              <a:t>CSA Group (2026), CSA N287.2-2026: https://webstore.ansi.org/standards/csa/csan2872026</a:t>
            </a:r>
          </a:p>
          <a:p>
            <a:r>
              <a:t>Canadian Nuclear Safety Commission (2026), Darlington New Nuclear Project: https://www.cnsc-ccsn.gc.ca/eng/reactors/new-reactor-power-plant-projects/new-reactor-power-plant-facilities/darlington-new-nuclear-project/</a:t>
            </a:r>
          </a:p>
          <a:p>
            <a:r>
              <a:t>The original references on this slide are retained from the team's submitted draft. For the final version, cross-check every numerical claim against the referenced document and include full URLs/access dates required by the course.</a:t>
            </a:r>
          </a:p>
          <a:p>
            <a:r>
              <a:t>Added citation used on Slides 7–8: Pillai, R.G. et al. (2019), Cement and Concrete Research, vol. 118, pp. 111–119, Table 2: https://doi.org/10.1016/j.cemconres.2018.11.019 ; accessible paper: https://lc3.ch/wp-content/uploads/2022/03/Pillai-et-al.-2019-Service-life-and-life-cycle-assessment-of-reinforc.pdf</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995363"/>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12963"/>
            <a:ext cx="10566400" cy="393223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995363"/>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12963"/>
            <a:ext cx="10566400" cy="393223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833A"/>
          </a:solidFill>
          <a:ln/>
        </p:spPr>
        <p:txBody>
          <a:bodyPr/>
          <a:lstStyle/>
          <a:p>
            <a:endParaRPr lang="en-AU"/>
          </a:p>
        </p:txBody>
      </p:sp>
      <p:sp>
        <p:nvSpPr>
          <p:cNvPr id="3" name="Text 1"/>
          <p:cNvSpPr/>
          <p:nvPr/>
        </p:nvSpPr>
        <p:spPr>
          <a:xfrm>
            <a:off x="812800" y="812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E8833A"/>
                </a:solidFill>
                <a:latin typeface="IBM Plex Sans" pitchFamily="34" charset="0"/>
                <a:ea typeface="IBM Plex Sans" pitchFamily="34" charset="-122"/>
                <a:cs typeface="IBM Plex Sans" pitchFamily="34" charset="-120"/>
              </a:rPr>
              <a:t>MTE4593 MATERIALS AND SUSTAINABILITY · ASSIGNMENT 2</a:t>
            </a:r>
            <a:endParaRPr lang="en-US" sz="1600" dirty="0"/>
          </a:p>
        </p:txBody>
      </p:sp>
      <p:sp>
        <p:nvSpPr>
          <p:cNvPr id="4" name="Text 2"/>
          <p:cNvSpPr>
            <a:spLocks noGrp="1"/>
          </p:cNvSpPr>
          <p:nvPr>
            <p:ph type="title"/>
          </p:nvPr>
        </p:nvSpPr>
        <p:spPr>
          <a:xfrm>
            <a:off x="812800" y="25400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E"/>
                </a:solidFill>
                <a:latin typeface="Space Grotesk" pitchFamily="34" charset="0"/>
                <a:ea typeface="Space Grotesk" pitchFamily="34" charset="-122"/>
                <a:cs typeface="Space Grotesk" pitchFamily="34" charset="-120"/>
              </a:rPr>
              <a:t>Small modular reactors</a:t>
            </a:r>
            <a:endParaRPr lang="en-US" sz="6000" dirty="0"/>
          </a:p>
        </p:txBody>
      </p:sp>
      <p:sp>
        <p:nvSpPr>
          <p:cNvPr id="5" name="Text 3"/>
          <p:cNvSpPr/>
          <p:nvPr/>
        </p:nvSpPr>
        <p:spPr>
          <a:xfrm>
            <a:off x="812800" y="3594100"/>
            <a:ext cx="9156700" cy="74930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Where they cut the most carbon, what holds them back, and the materials fix we propose</a:t>
            </a:r>
            <a:endParaRPr lang="en-US" sz="2200" dirty="0"/>
          </a:p>
        </p:txBody>
      </p:sp>
      <p:sp>
        <p:nvSpPr>
          <p:cNvPr id="6" name="Text 4"/>
          <p:cNvSpPr/>
          <p:nvPr/>
        </p:nvSpPr>
        <p:spPr>
          <a:xfrm>
            <a:off x="812800" y="5765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a:solidFill>
                  <a:srgbClr val="C9D3E3"/>
                </a:solidFill>
                <a:latin typeface="IBM Plex Sans" pitchFamily="34" charset="0"/>
                <a:ea typeface="IBM Plex Sans" pitchFamily="34" charset="-122"/>
                <a:cs typeface="IBM Plex Sans" pitchFamily="34" charset="-120"/>
              </a:rPr>
              <a:t>Leroy </a:t>
            </a:r>
            <a:r>
              <a:rPr lang="en-US" sz="1600" dirty="0">
                <a:solidFill>
                  <a:srgbClr val="C9D3E3"/>
                </a:solidFill>
                <a:latin typeface="IBM Plex Sans" pitchFamily="34" charset="0"/>
                <a:ea typeface="IBM Plex Sans" pitchFamily="34" charset="-122"/>
                <a:cs typeface="IBM Plex Sans" pitchFamily="34" charset="-120"/>
              </a:rPr>
              <a:t>Jean · Sam · Victor Clarke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Coal </a:t>
            </a:r>
            <a:r>
              <a:rPr lang="en-US" sz="3600" b="1" i="0" dirty="0">
                <a:solidFill>
                  <a:srgbClr val="14213D"/>
                </a:solidFill>
                <a:latin typeface="+mj-lt"/>
                <a:ea typeface="Space Grotesk" pitchFamily="34" charset="-122"/>
                <a:cs typeface="Space Grotesk" pitchFamily="34" charset="-120"/>
              </a:rPr>
              <a:t>is</a:t>
            </a:r>
            <a:r>
              <a:rPr lang="en-US" sz="3600" b="1" i="0" dirty="0">
                <a:solidFill>
                  <a:srgbClr val="14213D"/>
                </a:solidFill>
                <a:latin typeface="Space Grotesk" pitchFamily="34" charset="0"/>
                <a:ea typeface="Space Grotesk" pitchFamily="34" charset="-122"/>
                <a:cs typeface="Space Grotesk" pitchFamily="34" charset="-120"/>
              </a:rPr>
              <a:t> closing. What replaces its firm power?</a:t>
            </a:r>
            <a:endParaRPr lang="en-US" sz="3600" b="1" dirty="0"/>
          </a:p>
        </p:txBody>
      </p:sp>
      <p:sp>
        <p:nvSpPr>
          <p:cNvPr id="3" name="Shape 1"/>
          <p:cNvSpPr/>
          <p:nvPr/>
        </p:nvSpPr>
        <p:spPr>
          <a:xfrm>
            <a:off x="815975" y="1673225"/>
            <a:ext cx="5149850" cy="2025650"/>
          </a:xfrm>
          <a:prstGeom prst="roundRect">
            <a:avLst>
              <a:gd name="adj" fmla="val 4859"/>
            </a:avLst>
          </a:prstGeom>
          <a:solidFill>
            <a:srgbClr val="FFFDF8"/>
          </a:solidFill>
          <a:ln w="6350">
            <a:solidFill>
              <a:srgbClr val="DDD8CC"/>
            </a:solidFill>
            <a:prstDash val="solid"/>
          </a:ln>
        </p:spPr>
        <p:txBody>
          <a:bodyPr/>
          <a:lstStyle/>
          <a:p>
            <a:endParaRPr lang="en-AU"/>
          </a:p>
        </p:txBody>
      </p:sp>
      <p:sp>
        <p:nvSpPr>
          <p:cNvPr id="4" name="Text 2"/>
          <p:cNvSpPr/>
          <p:nvPr/>
        </p:nvSpPr>
        <p:spPr>
          <a:xfrm>
            <a:off x="1123950" y="1981200"/>
            <a:ext cx="4669917"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2410C"/>
                </a:solidFill>
                <a:latin typeface="Space Grotesk" pitchFamily="34" charset="0"/>
                <a:ea typeface="Space Grotesk" pitchFamily="34" charset="-122"/>
                <a:cs typeface="Space Grotesk" pitchFamily="34" charset="-120"/>
              </a:rPr>
              <a:t>640 g</a:t>
            </a:r>
            <a:endParaRPr lang="en-US" sz="6000" dirty="0"/>
          </a:p>
        </p:txBody>
      </p:sp>
      <p:sp>
        <p:nvSpPr>
          <p:cNvPr id="5" name="Text 3"/>
          <p:cNvSpPr/>
          <p:nvPr/>
        </p:nvSpPr>
        <p:spPr>
          <a:xfrm>
            <a:off x="1123950" y="2844800"/>
            <a:ext cx="4669917" cy="571500"/>
          </a:xfrm>
          <a:prstGeom prst="rect">
            <a:avLst/>
          </a:prstGeom>
          <a:noFill/>
          <a:ln/>
        </p:spPr>
        <p:txBody>
          <a:bodyPr wrap="square" lIns="0" tIns="0" rIns="0" bIns="0" rtlCol="0" anchor="t">
            <a:normAutofit/>
          </a:bodyPr>
          <a:lstStyle/>
          <a:p>
            <a:pPr marL="0" indent="0" algn="l">
              <a:lnSpc>
                <a:spcPts val="2160"/>
              </a:lnSpc>
              <a:buNone/>
            </a:pPr>
            <a:r>
              <a:rPr lang="en-US" sz="1500" dirty="0">
                <a:solidFill>
                  <a:srgbClr val="3D4A63"/>
                </a:solidFill>
                <a:latin typeface="IBM Plex Sans" pitchFamily="34" charset="0"/>
                <a:ea typeface="IBM Plex Sans" pitchFamily="34" charset="-122"/>
                <a:cs typeface="IBM Plex Sans" pitchFamily="34" charset="-120"/>
              </a:rPr>
              <a:t>NSW grid-average electricity factor, 2025–26 (operational)</a:t>
            </a:r>
            <a:endParaRPr lang="en-US" sz="1600" dirty="0"/>
          </a:p>
        </p:txBody>
      </p:sp>
      <p:sp>
        <p:nvSpPr>
          <p:cNvPr id="6" name="Shape 4"/>
          <p:cNvSpPr/>
          <p:nvPr/>
        </p:nvSpPr>
        <p:spPr>
          <a:xfrm>
            <a:off x="6226175" y="1673225"/>
            <a:ext cx="5149850" cy="2025650"/>
          </a:xfrm>
          <a:prstGeom prst="roundRect">
            <a:avLst>
              <a:gd name="adj" fmla="val 4859"/>
            </a:avLst>
          </a:prstGeom>
          <a:solidFill>
            <a:srgbClr val="FFFDF8"/>
          </a:solidFill>
          <a:ln w="6350">
            <a:solidFill>
              <a:srgbClr val="DDD8CC"/>
            </a:solidFill>
            <a:prstDash val="solid"/>
          </a:ln>
        </p:spPr>
        <p:txBody>
          <a:bodyPr/>
          <a:lstStyle/>
          <a:p>
            <a:endParaRPr lang="en-AU"/>
          </a:p>
        </p:txBody>
      </p:sp>
      <p:sp>
        <p:nvSpPr>
          <p:cNvPr id="7" name="Text 5"/>
          <p:cNvSpPr/>
          <p:nvPr/>
        </p:nvSpPr>
        <p:spPr>
          <a:xfrm>
            <a:off x="6534150" y="1981200"/>
            <a:ext cx="4669917"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F5FA8"/>
                </a:solidFill>
                <a:latin typeface="Space Grotesk" pitchFamily="34" charset="0"/>
                <a:ea typeface="Space Grotesk" pitchFamily="34" charset="-122"/>
                <a:cs typeface="Space Grotesk" pitchFamily="34" charset="-120"/>
              </a:rPr>
              <a:t>5–6 g</a:t>
            </a:r>
            <a:endParaRPr lang="en-US" sz="6000" dirty="0"/>
          </a:p>
        </p:txBody>
      </p:sp>
      <p:sp>
        <p:nvSpPr>
          <p:cNvPr id="8" name="Text 6"/>
          <p:cNvSpPr/>
          <p:nvPr/>
        </p:nvSpPr>
        <p:spPr>
          <a:xfrm>
            <a:off x="6534150" y="2844800"/>
            <a:ext cx="4669917" cy="571500"/>
          </a:xfrm>
          <a:prstGeom prst="rect">
            <a:avLst/>
          </a:prstGeom>
          <a:noFill/>
          <a:ln/>
        </p:spPr>
        <p:txBody>
          <a:bodyPr wrap="square" lIns="0" tIns="0" rIns="0" bIns="0" rtlCol="0" anchor="t">
            <a:normAutofit/>
          </a:bodyPr>
          <a:lstStyle/>
          <a:p>
            <a:pPr marL="0" indent="0" algn="l">
              <a:lnSpc>
                <a:spcPts val="2160"/>
              </a:lnSpc>
              <a:buNone/>
            </a:pPr>
            <a:r>
              <a:rPr lang="en-US" sz="1500" dirty="0">
                <a:solidFill>
                  <a:srgbClr val="3D4A63"/>
                </a:solidFill>
                <a:latin typeface="IBM Plex Sans" pitchFamily="34" charset="0"/>
                <a:ea typeface="IBM Plex Sans" pitchFamily="34" charset="-122"/>
                <a:cs typeface="IBM Plex Sans" pitchFamily="34" charset="-120"/>
              </a:rPr>
              <a:t>Reference nuclear power, full life-cycle emissions (UNECE)</a:t>
            </a:r>
            <a:endParaRPr lang="en-US" sz="1600" dirty="0"/>
          </a:p>
        </p:txBody>
      </p:sp>
      <p:sp>
        <p:nvSpPr>
          <p:cNvPr id="9" name="Text 7"/>
          <p:cNvSpPr/>
          <p:nvPr/>
        </p:nvSpPr>
        <p:spPr>
          <a:xfrm>
            <a:off x="812800" y="4057650"/>
            <a:ext cx="9810750"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63"/>
                </a:solidFill>
                <a:latin typeface="IBM Plex Sans" pitchFamily="34" charset="0"/>
                <a:ea typeface="IBM Plex Sans" pitchFamily="34" charset="-122"/>
                <a:cs typeface="IBM Plex Sans" pitchFamily="34" charset="-120"/>
              </a:rPr>
              <a:t>Retiring coal leaves a gap for reliable, low-carbon power. SMRs are pitched as one way to fill it.</a:t>
            </a:r>
            <a:endParaRPr lang="en-US" sz="1600" dirty="0"/>
          </a:p>
        </p:txBody>
      </p:sp>
      <p:sp>
        <p:nvSpPr>
          <p:cNvPr id="10" name="Text 8"/>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DCCEEW (2025) National Greenhouse Accounts Factors; UNECE (2021) Life Cycle Assessment of Electricity Generation Options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2870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a:rPr>
              <a:t>The </a:t>
            </a:r>
            <a:r>
              <a:rPr lang="en-US" sz="3600" b="1" i="0" dirty="0">
                <a:solidFill>
                  <a:srgbClr val="14213D"/>
                </a:solidFill>
                <a:latin typeface="+mj-lt"/>
              </a:rPr>
              <a:t>BWRX-300</a:t>
            </a:r>
            <a:r>
              <a:rPr lang="en-US" sz="3600" b="1" i="0" dirty="0">
                <a:solidFill>
                  <a:srgbClr val="14213D"/>
                </a:solidFill>
                <a:latin typeface="Space Grotesk"/>
              </a:rPr>
              <a:t>: a smaller, simpler boiling water reactor</a:t>
            </a:r>
            <a:endParaRPr lang="en-US" sz="3600" b="1" dirty="0">
              <a:latin typeface="Space Grotesk"/>
            </a:endParaRPr>
          </a:p>
        </p:txBody>
      </p:sp>
      <p:sp>
        <p:nvSpPr>
          <p:cNvPr id="3" name="Shape 1"/>
          <p:cNvSpPr/>
          <p:nvPr/>
        </p:nvSpPr>
        <p:spPr>
          <a:xfrm>
            <a:off x="815975" y="2174875"/>
            <a:ext cx="3380284" cy="2298700"/>
          </a:xfrm>
          <a:prstGeom prst="roundRect">
            <a:avLst>
              <a:gd name="adj" fmla="val 4282"/>
            </a:avLst>
          </a:prstGeom>
          <a:solidFill>
            <a:srgbClr val="FFFDF8"/>
          </a:solidFill>
          <a:ln w="6350">
            <a:solidFill>
              <a:srgbClr val="DDD8CC"/>
            </a:solidFill>
            <a:prstDash val="solid"/>
          </a:ln>
        </p:spPr>
        <p:txBody>
          <a:bodyPr/>
          <a:lstStyle/>
          <a:p>
            <a:endParaRPr lang="en-AU"/>
          </a:p>
        </p:txBody>
      </p:sp>
      <p:pic>
        <p:nvPicPr>
          <p:cNvPr id="4" name="Image 0" descr="Lightning"/>
          <p:cNvPicPr>
            <a:picLocks noChangeAspect="1"/>
          </p:cNvPicPr>
          <p:nvPr/>
        </p:nvPicPr>
        <p:blipFill>
          <a:blip r:embed="rId3"/>
          <a:srcRect/>
          <a:stretch/>
        </p:blipFill>
        <p:spPr>
          <a:xfrm>
            <a:off x="1098550" y="2457450"/>
            <a:ext cx="406400" cy="406400"/>
          </a:xfrm>
          <a:prstGeom prst="rect">
            <a:avLst/>
          </a:prstGeom>
        </p:spPr>
      </p:pic>
      <p:sp>
        <p:nvSpPr>
          <p:cNvPr id="5" name="Text 2"/>
          <p:cNvSpPr/>
          <p:nvPr/>
        </p:nvSpPr>
        <p:spPr>
          <a:xfrm>
            <a:off x="1098550" y="2990850"/>
            <a:ext cx="2899588"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300 MWe</a:t>
            </a:r>
            <a:endParaRPr lang="en-US" sz="2200" dirty="0"/>
          </a:p>
        </p:txBody>
      </p:sp>
      <p:sp>
        <p:nvSpPr>
          <p:cNvPr id="6" name="Text 3"/>
          <p:cNvSpPr/>
          <p:nvPr/>
        </p:nvSpPr>
        <p:spPr>
          <a:xfrm>
            <a:off x="1098550" y="3448050"/>
            <a:ext cx="2899588"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About a fifth of a large reactor, built in a factory-style series</a:t>
            </a:r>
            <a:endParaRPr lang="en-US" sz="1400" dirty="0"/>
          </a:p>
        </p:txBody>
      </p:sp>
      <p:sp>
        <p:nvSpPr>
          <p:cNvPr id="7" name="Shape 4"/>
          <p:cNvSpPr/>
          <p:nvPr/>
        </p:nvSpPr>
        <p:spPr>
          <a:xfrm>
            <a:off x="4405809" y="2174875"/>
            <a:ext cx="3380284" cy="2298700"/>
          </a:xfrm>
          <a:prstGeom prst="roundRect">
            <a:avLst>
              <a:gd name="adj" fmla="val 4282"/>
            </a:avLst>
          </a:prstGeom>
          <a:solidFill>
            <a:srgbClr val="FFFDF8"/>
          </a:solidFill>
          <a:ln w="6350">
            <a:solidFill>
              <a:srgbClr val="DDD8CC"/>
            </a:solidFill>
            <a:prstDash val="solid"/>
          </a:ln>
        </p:spPr>
        <p:txBody>
          <a:bodyPr/>
          <a:lstStyle/>
          <a:p>
            <a:endParaRPr lang="en-AU"/>
          </a:p>
        </p:txBody>
      </p:sp>
      <p:pic>
        <p:nvPicPr>
          <p:cNvPr id="8" name="Image 1" descr="Trust"/>
          <p:cNvPicPr>
            <a:picLocks noChangeAspect="1"/>
          </p:cNvPicPr>
          <p:nvPr/>
        </p:nvPicPr>
        <p:blipFill>
          <a:blip r:embed="rId4"/>
          <a:srcRect/>
          <a:stretch/>
        </p:blipFill>
        <p:spPr>
          <a:xfrm>
            <a:off x="4688384" y="2457450"/>
            <a:ext cx="406400" cy="406400"/>
          </a:xfrm>
          <a:prstGeom prst="rect">
            <a:avLst/>
          </a:prstGeom>
        </p:spPr>
      </p:pic>
      <p:sp>
        <p:nvSpPr>
          <p:cNvPr id="9" name="Text 5"/>
          <p:cNvSpPr/>
          <p:nvPr/>
        </p:nvSpPr>
        <p:spPr>
          <a:xfrm>
            <a:off x="4688384" y="2990850"/>
            <a:ext cx="2899588"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Passive cooling</a:t>
            </a:r>
            <a:endParaRPr lang="en-US" sz="2200" dirty="0"/>
          </a:p>
        </p:txBody>
      </p:sp>
      <p:sp>
        <p:nvSpPr>
          <p:cNvPr id="10" name="Text 6"/>
          <p:cNvSpPr/>
          <p:nvPr/>
        </p:nvSpPr>
        <p:spPr>
          <a:xfrm>
            <a:off x="4688384" y="3448050"/>
            <a:ext cx="2899588" cy="7683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Natural circulation and isolation condensers provide passive decay-heat removal after shutdown</a:t>
            </a:r>
            <a:endParaRPr lang="en-US" sz="1400" dirty="0"/>
          </a:p>
        </p:txBody>
      </p:sp>
      <p:sp>
        <p:nvSpPr>
          <p:cNvPr id="11" name="Shape 7"/>
          <p:cNvSpPr/>
          <p:nvPr/>
        </p:nvSpPr>
        <p:spPr>
          <a:xfrm>
            <a:off x="7995642" y="2174875"/>
            <a:ext cx="3380284" cy="2298700"/>
          </a:xfrm>
          <a:prstGeom prst="roundRect">
            <a:avLst>
              <a:gd name="adj" fmla="val 4282"/>
            </a:avLst>
          </a:prstGeom>
          <a:solidFill>
            <a:srgbClr val="FFFDF8"/>
          </a:solidFill>
          <a:ln w="6350">
            <a:solidFill>
              <a:srgbClr val="DDD8CC"/>
            </a:solidFill>
            <a:prstDash val="solid"/>
          </a:ln>
        </p:spPr>
        <p:txBody>
          <a:bodyPr/>
          <a:lstStyle/>
          <a:p>
            <a:endParaRPr lang="en-AU"/>
          </a:p>
        </p:txBody>
      </p:sp>
      <p:pic>
        <p:nvPicPr>
          <p:cNvPr id="12" name="Image 2" descr="Chart"/>
          <p:cNvPicPr>
            <a:picLocks noChangeAspect="1"/>
          </p:cNvPicPr>
          <p:nvPr/>
        </p:nvPicPr>
        <p:blipFill>
          <a:blip r:embed="rId5"/>
          <a:srcRect/>
          <a:stretch/>
        </p:blipFill>
        <p:spPr>
          <a:xfrm>
            <a:off x="8278217" y="2457450"/>
            <a:ext cx="406400" cy="406400"/>
          </a:xfrm>
          <a:prstGeom prst="rect">
            <a:avLst/>
          </a:prstGeom>
        </p:spPr>
      </p:pic>
      <p:sp>
        <p:nvSpPr>
          <p:cNvPr id="13" name="Text 8"/>
          <p:cNvSpPr/>
          <p:nvPr/>
        </p:nvSpPr>
        <p:spPr>
          <a:xfrm>
            <a:off x="8278217" y="2990850"/>
            <a:ext cx="2899588" cy="35560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&gt;50% less concrete</a:t>
            </a:r>
            <a:endParaRPr lang="en-US" sz="2200" dirty="0"/>
          </a:p>
        </p:txBody>
      </p:sp>
      <p:sp>
        <p:nvSpPr>
          <p:cNvPr id="14" name="Text 9"/>
          <p:cNvSpPr/>
          <p:nvPr/>
        </p:nvSpPr>
        <p:spPr>
          <a:xfrm>
            <a:off x="8278217" y="3448050"/>
            <a:ext cx="2899588"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Per MW, versus GE Hitachi’s large ESBWR design (vendor claim)</a:t>
            </a:r>
            <a:endParaRPr lang="en-US" sz="1400" dirty="0"/>
          </a:p>
        </p:txBody>
      </p:sp>
      <p:sp>
        <p:nvSpPr>
          <p:cNvPr id="15" name="Text 10"/>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 GE Hitachi Nuclear Energy (2021) BWRX-300 presentation, Alberta Innovates SMR Learning Series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mj-lt"/>
                <a:ea typeface="Space Grotesk" pitchFamily="34" charset="-122"/>
                <a:cs typeface="Space Grotesk" pitchFamily="34" charset="-120"/>
              </a:rPr>
              <a:t>Darlington</a:t>
            </a:r>
            <a:r>
              <a:rPr lang="en-US" sz="3600" b="1" i="0" dirty="0">
                <a:solidFill>
                  <a:srgbClr val="14213D"/>
                </a:solidFill>
                <a:latin typeface="Space Grotesk" pitchFamily="34" charset="0"/>
                <a:ea typeface="Space Grotesk" pitchFamily="34" charset="-122"/>
                <a:cs typeface="Space Grotesk" pitchFamily="34" charset="-120"/>
              </a:rPr>
              <a:t>, Ontario: the first SMR in the G7</a:t>
            </a:r>
            <a:endParaRPr lang="en-US" sz="3600" b="1" dirty="0"/>
          </a:p>
        </p:txBody>
      </p:sp>
      <p:sp>
        <p:nvSpPr>
          <p:cNvPr id="3" name="Shape 1"/>
          <p:cNvSpPr/>
          <p:nvPr/>
        </p:nvSpPr>
        <p:spPr>
          <a:xfrm>
            <a:off x="812800" y="1733550"/>
            <a:ext cx="10566400" cy="0"/>
          </a:xfrm>
          <a:prstGeom prst="line">
            <a:avLst/>
          </a:prstGeom>
          <a:noFill/>
          <a:ln w="25400">
            <a:solidFill>
              <a:srgbClr val="14213D"/>
            </a:solidFill>
            <a:prstDash val="solid"/>
          </a:ln>
        </p:spPr>
        <p:txBody>
          <a:bodyPr/>
          <a:lstStyle/>
          <a:p>
            <a:endParaRPr lang="en-AU"/>
          </a:p>
        </p:txBody>
      </p:sp>
      <p:sp>
        <p:nvSpPr>
          <p:cNvPr id="4" name="Text 2"/>
          <p:cNvSpPr/>
          <p:nvPr/>
        </p:nvSpPr>
        <p:spPr>
          <a:xfrm>
            <a:off x="812800" y="1949450"/>
            <a:ext cx="2603119"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Oct 2022</a:t>
            </a:r>
            <a:endParaRPr lang="en-US" sz="2200" dirty="0"/>
          </a:p>
        </p:txBody>
      </p:sp>
      <p:sp>
        <p:nvSpPr>
          <p:cNvPr id="5" name="Text 3"/>
          <p:cNvSpPr/>
          <p:nvPr/>
        </p:nvSpPr>
        <p:spPr>
          <a:xfrm>
            <a:off x="812800" y="2413000"/>
            <a:ext cx="2603119"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OPG applies for a licence to construct</a:t>
            </a:r>
            <a:endParaRPr lang="en-US" sz="1400" dirty="0"/>
          </a:p>
        </p:txBody>
      </p:sp>
      <p:sp>
        <p:nvSpPr>
          <p:cNvPr id="6" name="Text 4"/>
          <p:cNvSpPr/>
          <p:nvPr/>
        </p:nvSpPr>
        <p:spPr>
          <a:xfrm>
            <a:off x="3492500" y="1949450"/>
            <a:ext cx="2603119"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Apr 2025</a:t>
            </a:r>
            <a:endParaRPr lang="en-US" sz="2200" dirty="0"/>
          </a:p>
        </p:txBody>
      </p:sp>
      <p:sp>
        <p:nvSpPr>
          <p:cNvPr id="7" name="Text 5"/>
          <p:cNvSpPr/>
          <p:nvPr/>
        </p:nvSpPr>
        <p:spPr>
          <a:xfrm>
            <a:off x="3492500" y="2413000"/>
            <a:ext cx="2603119"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Canadian Nuclear Safety Commission grants the licence</a:t>
            </a:r>
            <a:endParaRPr lang="en-US" sz="1400" dirty="0"/>
          </a:p>
        </p:txBody>
      </p:sp>
      <p:sp>
        <p:nvSpPr>
          <p:cNvPr id="8" name="Text 6"/>
          <p:cNvSpPr/>
          <p:nvPr/>
        </p:nvSpPr>
        <p:spPr>
          <a:xfrm>
            <a:off x="6172200" y="1949450"/>
            <a:ext cx="2603119"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May 2025</a:t>
            </a:r>
            <a:endParaRPr lang="en-US" sz="2200" dirty="0"/>
          </a:p>
        </p:txBody>
      </p:sp>
      <p:sp>
        <p:nvSpPr>
          <p:cNvPr id="9" name="Text 7"/>
          <p:cNvSpPr/>
          <p:nvPr/>
        </p:nvSpPr>
        <p:spPr>
          <a:xfrm>
            <a:off x="6172200" y="2413000"/>
            <a:ext cx="2603119" cy="7683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Ontario approves Unit 1; C$20.9 billion budget for all 4 units</a:t>
            </a:r>
            <a:endParaRPr lang="en-US" sz="1400" dirty="0"/>
          </a:p>
        </p:txBody>
      </p:sp>
      <p:sp>
        <p:nvSpPr>
          <p:cNvPr id="10" name="Text 8"/>
          <p:cNvSpPr/>
          <p:nvPr/>
        </p:nvSpPr>
        <p:spPr>
          <a:xfrm>
            <a:off x="8851900" y="1949450"/>
            <a:ext cx="2603119"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5FA8"/>
                </a:solidFill>
                <a:latin typeface="Space Grotesk" pitchFamily="34" charset="0"/>
                <a:ea typeface="Space Grotesk" pitchFamily="34" charset="-122"/>
                <a:cs typeface="Space Grotesk" pitchFamily="34" charset="-120"/>
              </a:rPr>
              <a:t>2030</a:t>
            </a:r>
            <a:endParaRPr lang="en-US" sz="2200" dirty="0"/>
          </a:p>
        </p:txBody>
      </p:sp>
      <p:sp>
        <p:nvSpPr>
          <p:cNvPr id="11" name="Text 9"/>
          <p:cNvSpPr/>
          <p:nvPr/>
        </p:nvSpPr>
        <p:spPr>
          <a:xfrm>
            <a:off x="8851900" y="2413000"/>
            <a:ext cx="2603119" cy="2730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Unit 1 expected in service</a:t>
            </a:r>
            <a:endParaRPr lang="en-US" sz="1400" dirty="0"/>
          </a:p>
        </p:txBody>
      </p:sp>
      <p:sp>
        <p:nvSpPr>
          <p:cNvPr id="12" name="Text 10"/>
          <p:cNvSpPr/>
          <p:nvPr/>
        </p:nvSpPr>
        <p:spPr>
          <a:xfrm>
            <a:off x="812800" y="3562350"/>
            <a:ext cx="9810750" cy="304800"/>
          </a:xfrm>
          <a:prstGeom prst="rect">
            <a:avLst/>
          </a:prstGeom>
          <a:noFill/>
          <a:ln/>
        </p:spPr>
        <p:txBody>
          <a:bodyPr wrap="square" lIns="0" tIns="0" rIns="0" bIns="0" rtlCol="0" anchor="t">
            <a:normAutofit/>
          </a:bodyPr>
          <a:lstStyle/>
          <a:p>
            <a:pPr marL="0" indent="0" algn="l">
              <a:lnSpc>
                <a:spcPts val="2240"/>
              </a:lnSpc>
              <a:buNone/>
            </a:pPr>
            <a:r>
              <a:rPr lang="en-US" sz="1500" dirty="0">
                <a:solidFill>
                  <a:srgbClr val="3D4A63"/>
                </a:solidFill>
                <a:latin typeface="IBM Plex Sans" pitchFamily="34" charset="0"/>
                <a:ea typeface="IBM Plex Sans" pitchFamily="34" charset="-122"/>
                <a:cs typeface="IBM Plex Sans" pitchFamily="34" charset="-120"/>
              </a:rPr>
              <a:t>C$20.9 billion is the full four-unit programme budget, including shared works (not only reactor hardware).</a:t>
            </a:r>
            <a:endParaRPr lang="en-US" sz="1600" dirty="0"/>
          </a:p>
        </p:txBody>
      </p:sp>
      <p:sp>
        <p:nvSpPr>
          <p:cNvPr id="13" name="Text 11"/>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CNSC (2025); Government of Ontario (2025); OPG (2025)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E8833A"/>
                </a:solidFill>
                <a:latin typeface="IBM Plex Sans" pitchFamily="34" charset="0"/>
                <a:ea typeface="IBM Plex Sans" pitchFamily="34" charset="-122"/>
                <a:cs typeface="IBM Plex Sans" pitchFamily="34" charset="-120"/>
              </a:rPr>
              <a:t>OUR PROPOSAL</a:t>
            </a:r>
            <a:endParaRPr lang="en-US" sz="1600" dirty="0"/>
          </a:p>
        </p:txBody>
      </p:sp>
      <p:sp>
        <p:nvSpPr>
          <p:cNvPr id="3" name="Text 1"/>
          <p:cNvSpPr>
            <a:spLocks noGrp="1"/>
          </p:cNvSpPr>
          <p:nvPr>
            <p:ph type="title"/>
          </p:nvPr>
        </p:nvSpPr>
        <p:spPr>
          <a:xfrm>
            <a:off x="812800" y="1447800"/>
            <a:ext cx="10464800" cy="1066800"/>
          </a:xfrm>
          <a:prstGeom prst="rect">
            <a:avLst/>
          </a:prstGeom>
          <a:noFill/>
          <a:ln/>
        </p:spPr>
        <p:txBody>
          <a:bodyPr wrap="square" lIns="0" tIns="0" rIns="0" bIns="0" rtlCol="0" anchor="t">
            <a:normAutofit/>
          </a:bodyPr>
          <a:lstStyle/>
          <a:p>
            <a:pPr marL="0" indent="0" algn="l">
              <a:lnSpc>
                <a:spcPts val="4140"/>
              </a:lnSpc>
              <a:buNone/>
            </a:pPr>
            <a:r>
              <a:rPr lang="en-US" sz="3500" b="1" i="0" dirty="0">
                <a:solidFill>
                  <a:srgbClr val="F6F4EE"/>
                </a:solidFill>
                <a:latin typeface="Space Grotesk" pitchFamily="34" charset="0"/>
                <a:ea typeface="Space Grotesk" pitchFamily="34" charset="-122"/>
                <a:cs typeface="Space Grotesk" pitchFamily="34" charset="-120"/>
              </a:rPr>
              <a:t>Pilot low-clinker LC³ concrete for future Darlington Units 2–4</a:t>
            </a:r>
            <a:endParaRPr lang="en-US" sz="3600" b="1" dirty="0"/>
          </a:p>
        </p:txBody>
      </p:sp>
      <p:sp>
        <p:nvSpPr>
          <p:cNvPr id="4" name="Shape 2"/>
          <p:cNvSpPr/>
          <p:nvPr/>
        </p:nvSpPr>
        <p:spPr>
          <a:xfrm>
            <a:off x="812800" y="2844800"/>
            <a:ext cx="2527300" cy="1733550"/>
          </a:xfrm>
          <a:prstGeom prst="roundRect">
            <a:avLst>
              <a:gd name="adj" fmla="val 5861"/>
            </a:avLst>
          </a:prstGeom>
          <a:solidFill>
            <a:srgbClr val="1F2E50"/>
          </a:solidFill>
          <a:ln/>
        </p:spPr>
        <p:txBody>
          <a:bodyPr/>
          <a:lstStyle/>
          <a:p>
            <a:endParaRPr lang="en-AU"/>
          </a:p>
        </p:txBody>
      </p:sp>
      <p:sp>
        <p:nvSpPr>
          <p:cNvPr id="5" name="Text 3"/>
          <p:cNvSpPr/>
          <p:nvPr/>
        </p:nvSpPr>
        <p:spPr>
          <a:xfrm>
            <a:off x="1041400" y="3073400"/>
            <a:ext cx="2132203" cy="234950"/>
          </a:xfrm>
          <a:prstGeom prst="rect">
            <a:avLst/>
          </a:prstGeom>
          <a:noFill/>
          <a:ln/>
        </p:spPr>
        <p:txBody>
          <a:bodyPr wrap="square" lIns="0" tIns="0" rIns="0" bIns="0" rtlCol="0" anchor="t">
            <a:normAutofit/>
          </a:bodyPr>
          <a:lstStyle/>
          <a:p>
            <a:pPr marL="0" indent="0" algn="l">
              <a:lnSpc>
                <a:spcPts val="1680"/>
              </a:lnSpc>
              <a:buNone/>
            </a:pPr>
            <a:r>
              <a:rPr lang="en-US" sz="1400" b="1" kern="0" spc="50" dirty="0">
                <a:solidFill>
                  <a:srgbClr val="E8833A"/>
                </a:solidFill>
                <a:latin typeface="IBM Plex Sans" pitchFamily="34" charset="0"/>
                <a:ea typeface="IBM Plex Sans" pitchFamily="34" charset="-122"/>
                <a:cs typeface="IBM Plex Sans" pitchFamily="34" charset="-120"/>
              </a:rPr>
              <a:t>LOCATION</a:t>
            </a:r>
            <a:endParaRPr lang="en-US" sz="1400" dirty="0"/>
          </a:p>
        </p:txBody>
      </p:sp>
      <p:sp>
        <p:nvSpPr>
          <p:cNvPr id="6" name="Text 4"/>
          <p:cNvSpPr/>
          <p:nvPr/>
        </p:nvSpPr>
        <p:spPr>
          <a:xfrm>
            <a:off x="1041400" y="3359150"/>
            <a:ext cx="2132203" cy="1016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3EE"/>
                </a:solidFill>
                <a:latin typeface="IBM Plex Sans" pitchFamily="34" charset="0"/>
                <a:ea typeface="IBM Plex Sans" pitchFamily="34" charset="-122"/>
                <a:cs typeface="IBM Plex Sans" pitchFamily="34" charset="-120"/>
              </a:rPr>
              <a:t>Darlington New Nuclear Project, Clarington, Ontario; Unit 1 already under construction</a:t>
            </a:r>
            <a:endParaRPr lang="en-US" sz="1400" dirty="0"/>
          </a:p>
        </p:txBody>
      </p:sp>
      <p:sp>
        <p:nvSpPr>
          <p:cNvPr id="7" name="Shape 5"/>
          <p:cNvSpPr/>
          <p:nvPr/>
        </p:nvSpPr>
        <p:spPr>
          <a:xfrm>
            <a:off x="3492500" y="2844800"/>
            <a:ext cx="2527300" cy="1733550"/>
          </a:xfrm>
          <a:prstGeom prst="roundRect">
            <a:avLst>
              <a:gd name="adj" fmla="val 5861"/>
            </a:avLst>
          </a:prstGeom>
          <a:solidFill>
            <a:srgbClr val="1F2E50"/>
          </a:solidFill>
          <a:ln/>
        </p:spPr>
        <p:txBody>
          <a:bodyPr/>
          <a:lstStyle/>
          <a:p>
            <a:endParaRPr lang="en-AU"/>
          </a:p>
        </p:txBody>
      </p:sp>
      <p:sp>
        <p:nvSpPr>
          <p:cNvPr id="8" name="Text 6"/>
          <p:cNvSpPr/>
          <p:nvPr/>
        </p:nvSpPr>
        <p:spPr>
          <a:xfrm>
            <a:off x="3721100" y="3073400"/>
            <a:ext cx="2132203" cy="234950"/>
          </a:xfrm>
          <a:prstGeom prst="rect">
            <a:avLst/>
          </a:prstGeom>
          <a:noFill/>
          <a:ln/>
        </p:spPr>
        <p:txBody>
          <a:bodyPr wrap="square" lIns="0" tIns="0" rIns="0" bIns="0" rtlCol="0" anchor="t">
            <a:normAutofit/>
          </a:bodyPr>
          <a:lstStyle/>
          <a:p>
            <a:pPr marL="0" indent="0" algn="l">
              <a:lnSpc>
                <a:spcPts val="1680"/>
              </a:lnSpc>
              <a:buNone/>
            </a:pPr>
            <a:r>
              <a:rPr lang="en-US" sz="1400" b="1" kern="0" spc="50" dirty="0">
                <a:solidFill>
                  <a:srgbClr val="E8833A"/>
                </a:solidFill>
                <a:latin typeface="IBM Plex Sans" pitchFamily="34" charset="0"/>
                <a:ea typeface="IBM Plex Sans" pitchFamily="34" charset="-122"/>
                <a:cs typeface="IBM Plex Sans" pitchFamily="34" charset="-120"/>
              </a:rPr>
              <a:t>SCALE</a:t>
            </a:r>
            <a:endParaRPr lang="en-US" sz="1400" dirty="0"/>
          </a:p>
        </p:txBody>
      </p:sp>
      <p:sp>
        <p:nvSpPr>
          <p:cNvPr id="9" name="Text 7"/>
          <p:cNvSpPr/>
          <p:nvPr/>
        </p:nvSpPr>
        <p:spPr>
          <a:xfrm>
            <a:off x="3721100" y="3359150"/>
            <a:ext cx="2132203" cy="76835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DCE3EE"/>
                </a:solidFill>
                <a:latin typeface="IBM Plex Sans" pitchFamily="34" charset="0"/>
                <a:ea typeface="IBM Plex Sans" pitchFamily="34" charset="-122"/>
                <a:cs typeface="IBM Plex Sans" pitchFamily="34" charset="-120"/>
              </a:rPr>
              <a:t>Up to 3 × 300 MWe; ~50,000 m³ concrete/unit is a Polish BWRX-300 proxy</a:t>
            </a:r>
            <a:endParaRPr lang="en-US" sz="1400" dirty="0"/>
          </a:p>
        </p:txBody>
      </p:sp>
      <p:sp>
        <p:nvSpPr>
          <p:cNvPr id="10" name="Shape 8"/>
          <p:cNvSpPr/>
          <p:nvPr/>
        </p:nvSpPr>
        <p:spPr>
          <a:xfrm>
            <a:off x="6172200" y="2844800"/>
            <a:ext cx="2527300" cy="1733550"/>
          </a:xfrm>
          <a:prstGeom prst="roundRect">
            <a:avLst>
              <a:gd name="adj" fmla="val 5861"/>
            </a:avLst>
          </a:prstGeom>
          <a:solidFill>
            <a:srgbClr val="1F2E50"/>
          </a:solidFill>
          <a:ln/>
        </p:spPr>
        <p:txBody>
          <a:bodyPr/>
          <a:lstStyle/>
          <a:p>
            <a:endParaRPr lang="en-AU"/>
          </a:p>
        </p:txBody>
      </p:sp>
      <p:sp>
        <p:nvSpPr>
          <p:cNvPr id="11" name="Text 9"/>
          <p:cNvSpPr/>
          <p:nvPr/>
        </p:nvSpPr>
        <p:spPr>
          <a:xfrm>
            <a:off x="6400800" y="3073400"/>
            <a:ext cx="2132203" cy="234950"/>
          </a:xfrm>
          <a:prstGeom prst="rect">
            <a:avLst/>
          </a:prstGeom>
          <a:noFill/>
          <a:ln/>
        </p:spPr>
        <p:txBody>
          <a:bodyPr wrap="square" lIns="0" tIns="0" rIns="0" bIns="0" rtlCol="0" anchor="t">
            <a:normAutofit/>
          </a:bodyPr>
          <a:lstStyle/>
          <a:p>
            <a:pPr marL="0" indent="0" algn="l">
              <a:lnSpc>
                <a:spcPts val="1680"/>
              </a:lnSpc>
              <a:buNone/>
            </a:pPr>
            <a:r>
              <a:rPr lang="en-US" sz="1400" b="1" kern="0" spc="50" dirty="0">
                <a:solidFill>
                  <a:srgbClr val="E8833A"/>
                </a:solidFill>
                <a:latin typeface="IBM Plex Sans" pitchFamily="34" charset="0"/>
                <a:ea typeface="IBM Plex Sans" pitchFamily="34" charset="-122"/>
                <a:cs typeface="IBM Plex Sans" pitchFamily="34" charset="-120"/>
              </a:rPr>
              <a:t>APPLICATION</a:t>
            </a:r>
            <a:endParaRPr lang="en-US" sz="1400" dirty="0"/>
          </a:p>
        </p:txBody>
      </p:sp>
      <p:sp>
        <p:nvSpPr>
          <p:cNvPr id="12" name="Text 10"/>
          <p:cNvSpPr/>
          <p:nvPr/>
        </p:nvSpPr>
        <p:spPr>
          <a:xfrm>
            <a:off x="6400800" y="3359150"/>
            <a:ext cx="2132203" cy="101600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DCE3EE"/>
                </a:solidFill>
                <a:latin typeface="IBM Plex Sans" pitchFamily="34" charset="0"/>
                <a:ea typeface="IBM Plex Sans" pitchFamily="34" charset="-122"/>
                <a:cs typeface="IBM Plex Sans" pitchFamily="34" charset="-120"/>
              </a:rPr>
              <a:t>First: eligible non-safety works. Later: steel-composite infill only if qualified</a:t>
            </a:r>
            <a:endParaRPr lang="en-US" sz="1400" dirty="0"/>
          </a:p>
        </p:txBody>
      </p:sp>
      <p:sp>
        <p:nvSpPr>
          <p:cNvPr id="13" name="Shape 11"/>
          <p:cNvSpPr/>
          <p:nvPr/>
        </p:nvSpPr>
        <p:spPr>
          <a:xfrm>
            <a:off x="8851900" y="2844800"/>
            <a:ext cx="2527300" cy="1733550"/>
          </a:xfrm>
          <a:prstGeom prst="roundRect">
            <a:avLst>
              <a:gd name="adj" fmla="val 5861"/>
            </a:avLst>
          </a:prstGeom>
          <a:solidFill>
            <a:srgbClr val="1F2E50"/>
          </a:solidFill>
          <a:ln/>
        </p:spPr>
        <p:txBody>
          <a:bodyPr/>
          <a:lstStyle/>
          <a:p>
            <a:endParaRPr lang="en-AU"/>
          </a:p>
        </p:txBody>
      </p:sp>
      <p:sp>
        <p:nvSpPr>
          <p:cNvPr id="14" name="Text 12"/>
          <p:cNvSpPr/>
          <p:nvPr/>
        </p:nvSpPr>
        <p:spPr>
          <a:xfrm>
            <a:off x="9080500" y="3073400"/>
            <a:ext cx="2132203" cy="234950"/>
          </a:xfrm>
          <a:prstGeom prst="rect">
            <a:avLst/>
          </a:prstGeom>
          <a:noFill/>
          <a:ln/>
        </p:spPr>
        <p:txBody>
          <a:bodyPr wrap="square" lIns="0" tIns="0" rIns="0" bIns="0" rtlCol="0" anchor="t">
            <a:normAutofit/>
          </a:bodyPr>
          <a:lstStyle/>
          <a:p>
            <a:pPr marL="0" indent="0" algn="l">
              <a:lnSpc>
                <a:spcPts val="1680"/>
              </a:lnSpc>
              <a:buNone/>
            </a:pPr>
            <a:r>
              <a:rPr lang="en-US" sz="1400" b="1" kern="0" spc="50" dirty="0">
                <a:solidFill>
                  <a:srgbClr val="E8833A"/>
                </a:solidFill>
                <a:latin typeface="IBM Plex Sans" pitchFamily="34" charset="0"/>
                <a:ea typeface="IBM Plex Sans" pitchFamily="34" charset="-122"/>
                <a:cs typeface="IBM Plex Sans" pitchFamily="34" charset="-120"/>
              </a:rPr>
              <a:t>TECHNOLOGY</a:t>
            </a:r>
            <a:endParaRPr lang="en-US" sz="1400" dirty="0"/>
          </a:p>
        </p:txBody>
      </p:sp>
      <p:sp>
        <p:nvSpPr>
          <p:cNvPr id="15" name="Text 13"/>
          <p:cNvSpPr/>
          <p:nvPr/>
        </p:nvSpPr>
        <p:spPr>
          <a:xfrm>
            <a:off x="9080500" y="3359150"/>
            <a:ext cx="2132203" cy="76835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DCE3EE"/>
                </a:solidFill>
                <a:latin typeface="IBM Plex Sans" pitchFamily="34" charset="0"/>
                <a:ea typeface="IBM Plex Sans" pitchFamily="34" charset="-122"/>
                <a:cs typeface="IBM Plex Sans" pitchFamily="34" charset="-120"/>
              </a:rPr>
              <a:t>LC³ binder: calcined clay + limestone replace some Portland clinker</a:t>
            </a:r>
            <a:endParaRPr lang="en-US" sz="1400" dirty="0"/>
          </a:p>
        </p:txBody>
      </p:sp>
      <p:sp>
        <p:nvSpPr>
          <p:cNvPr id="16" name="Text 14"/>
          <p:cNvSpPr/>
          <p:nvPr/>
        </p:nvSpPr>
        <p:spPr>
          <a:xfrm>
            <a:off x="812800" y="4933950"/>
            <a:ext cx="10464800" cy="27305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C9D3E3"/>
                </a:solidFill>
                <a:latin typeface="IBM Plex Sans" pitchFamily="34" charset="0"/>
                <a:ea typeface="IBM Plex Sans" pitchFamily="34" charset="-122"/>
                <a:cs typeface="IBM Plex Sans" pitchFamily="34" charset="-120"/>
              </a:rPr>
              <a:t>Reactor quantities and eligible share are provisional. Units 2–4 also require future licensing; Liddell is a separate Australian comparison.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AE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28700"/>
          </a:xfrm>
          <a:prstGeom prst="rect">
            <a:avLst/>
          </a:prstGeom>
          <a:noFill/>
          <a:ln/>
        </p:spPr>
        <p:txBody>
          <a:bodyPr wrap="square" lIns="0" tIns="0" rIns="0" bIns="0" rtlCol="0" anchor="t">
            <a:normAutofit/>
          </a:bodyPr>
          <a:lstStyle/>
          <a:p>
            <a:pPr marL="0" indent="0" algn="l">
              <a:lnSpc>
                <a:spcPts val="3960"/>
              </a:lnSpc>
              <a:buNone/>
            </a:pPr>
            <a:r>
              <a:rPr lang="en-US" sz="3400" b="1" i="0" dirty="0">
                <a:solidFill>
                  <a:srgbClr val="14213D"/>
                </a:solidFill>
                <a:latin typeface="Space Grotesk" pitchFamily="34" charset="0"/>
                <a:ea typeface="Space Grotesk" pitchFamily="34" charset="-122"/>
                <a:cs typeface="Space Grotesk" pitchFamily="34" charset="-120"/>
              </a:rPr>
              <a:t>Our assessment: full life-cycle boundary, materials quantified</a:t>
            </a:r>
            <a:endParaRPr lang="en-US" sz="3600" b="1" dirty="0"/>
          </a:p>
        </p:txBody>
      </p:sp>
      <p:sp>
        <p:nvSpPr>
          <p:cNvPr id="3" name="Text 1"/>
          <p:cNvSpPr/>
          <p:nvPr/>
        </p:nvSpPr>
        <p:spPr>
          <a:xfrm>
            <a:off x="819150" y="2160465"/>
            <a:ext cx="1540966" cy="1117600"/>
          </a:xfrm>
          <a:prstGeom prst="roundRect">
            <a:avLst>
              <a:gd name="adj" fmla="val 8807"/>
            </a:avLst>
          </a:prstGeom>
          <a:solidFill>
            <a:srgbClr val="FFFDF8"/>
          </a:solidFill>
          <a:ln w="6350">
            <a:solidFill>
              <a:srgbClr val="CFC9BA"/>
            </a:solidFill>
            <a:prstDash val="solid"/>
          </a:ln>
        </p:spPr>
        <p:txBody>
          <a:bodyPr wrap="square" lIns="152147" tIns="152147" rIns="101347" bIns="152147"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Mining and milling</a:t>
            </a:r>
            <a:endParaRPr lang="en-US" sz="1400" dirty="0"/>
          </a:p>
        </p:txBody>
      </p:sp>
      <p:pic>
        <p:nvPicPr>
          <p:cNvPr id="4" name="Image 0" descr="connector"/>
          <p:cNvPicPr>
            <a:picLocks noChangeAspect="1"/>
          </p:cNvPicPr>
          <p:nvPr/>
        </p:nvPicPr>
        <p:blipFill>
          <a:blip r:embed="rId3"/>
          <a:srcRect/>
          <a:stretch/>
        </p:blipFill>
        <p:spPr>
          <a:xfrm>
            <a:off x="2360116" y="2171700"/>
            <a:ext cx="254000" cy="76200"/>
          </a:xfrm>
          <a:prstGeom prst="rect">
            <a:avLst/>
          </a:prstGeom>
        </p:spPr>
      </p:pic>
      <p:sp>
        <p:nvSpPr>
          <p:cNvPr id="5" name="Shape 2"/>
          <p:cNvSpPr/>
          <p:nvPr/>
        </p:nvSpPr>
        <p:spPr>
          <a:xfrm>
            <a:off x="2617291" y="2174875"/>
            <a:ext cx="1540966" cy="1117600"/>
          </a:xfrm>
          <a:prstGeom prst="roundRect">
            <a:avLst>
              <a:gd name="adj" fmla="val 8807"/>
            </a:avLst>
          </a:prstGeom>
          <a:solidFill>
            <a:srgbClr val="FFFDF8"/>
          </a:solidFill>
          <a:ln w="6350">
            <a:solidFill>
              <a:srgbClr val="CFC9BA"/>
            </a:solidFill>
            <a:prstDash val="solid"/>
          </a:ln>
        </p:spPr>
        <p:txBody>
          <a:bodyPr/>
          <a:lstStyle/>
          <a:p>
            <a:endParaRPr lang="en-AU"/>
          </a:p>
        </p:txBody>
      </p:sp>
      <p:sp>
        <p:nvSpPr>
          <p:cNvPr id="6" name="Text 3"/>
          <p:cNvSpPr/>
          <p:nvPr/>
        </p:nvSpPr>
        <p:spPr>
          <a:xfrm>
            <a:off x="2798266" y="2355850"/>
            <a:ext cx="1229816" cy="7683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Conversion and enrichment</a:t>
            </a:r>
            <a:endParaRPr lang="en-US" sz="1400" dirty="0"/>
          </a:p>
        </p:txBody>
      </p:sp>
      <p:pic>
        <p:nvPicPr>
          <p:cNvPr id="7" name="Image 1" descr="connector"/>
          <p:cNvPicPr>
            <a:picLocks noChangeAspect="1"/>
          </p:cNvPicPr>
          <p:nvPr/>
        </p:nvPicPr>
        <p:blipFill>
          <a:blip r:embed="rId3"/>
          <a:srcRect/>
          <a:stretch/>
        </p:blipFill>
        <p:spPr>
          <a:xfrm>
            <a:off x="4161433" y="2171700"/>
            <a:ext cx="254000" cy="76200"/>
          </a:xfrm>
          <a:prstGeom prst="rect">
            <a:avLst/>
          </a:prstGeom>
        </p:spPr>
      </p:pic>
      <p:sp>
        <p:nvSpPr>
          <p:cNvPr id="8" name="Text 4"/>
          <p:cNvSpPr/>
          <p:nvPr/>
        </p:nvSpPr>
        <p:spPr>
          <a:xfrm>
            <a:off x="4418608" y="2174875"/>
            <a:ext cx="1540966" cy="1117600"/>
          </a:xfrm>
          <a:prstGeom prst="roundRect">
            <a:avLst>
              <a:gd name="adj" fmla="val 8807"/>
            </a:avLst>
          </a:prstGeom>
          <a:solidFill>
            <a:srgbClr val="FFFDF8"/>
          </a:solidFill>
          <a:ln w="6350">
            <a:solidFill>
              <a:srgbClr val="CFC9BA"/>
            </a:solidFill>
            <a:prstDash val="solid"/>
          </a:ln>
        </p:spPr>
        <p:txBody>
          <a:bodyPr wrap="square" lIns="152147" tIns="152147" rIns="101347" bIns="152147"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Fuel fabrication</a:t>
            </a:r>
            <a:endParaRPr lang="en-US" sz="1400" dirty="0"/>
          </a:p>
        </p:txBody>
      </p:sp>
      <p:pic>
        <p:nvPicPr>
          <p:cNvPr id="9" name="Image 2" descr="connector"/>
          <p:cNvPicPr>
            <a:picLocks noChangeAspect="1"/>
          </p:cNvPicPr>
          <p:nvPr/>
        </p:nvPicPr>
        <p:blipFill>
          <a:blip r:embed="rId3"/>
          <a:srcRect/>
          <a:stretch/>
        </p:blipFill>
        <p:spPr>
          <a:xfrm>
            <a:off x="5962749" y="2171700"/>
            <a:ext cx="254000" cy="76200"/>
          </a:xfrm>
          <a:prstGeom prst="rect">
            <a:avLst/>
          </a:prstGeom>
        </p:spPr>
      </p:pic>
      <p:sp>
        <p:nvSpPr>
          <p:cNvPr id="10" name="Shape 5"/>
          <p:cNvSpPr/>
          <p:nvPr/>
        </p:nvSpPr>
        <p:spPr>
          <a:xfrm>
            <a:off x="6223099" y="2178050"/>
            <a:ext cx="1547316" cy="1111250"/>
          </a:xfrm>
          <a:prstGeom prst="roundRect">
            <a:avLst>
              <a:gd name="adj" fmla="val 8571"/>
            </a:avLst>
          </a:prstGeom>
          <a:solidFill>
            <a:srgbClr val="FBE3D0"/>
          </a:solidFill>
          <a:ln w="12700">
            <a:solidFill>
              <a:srgbClr val="C2410C"/>
            </a:solidFill>
            <a:prstDash val="solid"/>
          </a:ln>
        </p:spPr>
        <p:txBody>
          <a:bodyPr/>
          <a:lstStyle/>
          <a:p>
            <a:endParaRPr lang="en-AU"/>
          </a:p>
        </p:txBody>
      </p:sp>
      <p:sp>
        <p:nvSpPr>
          <p:cNvPr id="11" name="Text 6"/>
          <p:cNvSpPr/>
          <p:nvPr/>
        </p:nvSpPr>
        <p:spPr>
          <a:xfrm>
            <a:off x="6407249" y="2362200"/>
            <a:ext cx="1229816" cy="7683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Construction: concrete and steel</a:t>
            </a:r>
            <a:endParaRPr lang="en-US" sz="1400" dirty="0"/>
          </a:p>
        </p:txBody>
      </p:sp>
      <p:pic>
        <p:nvPicPr>
          <p:cNvPr id="12" name="Image 3" descr="connector"/>
          <p:cNvPicPr>
            <a:picLocks noChangeAspect="1"/>
          </p:cNvPicPr>
          <p:nvPr/>
        </p:nvPicPr>
        <p:blipFill>
          <a:blip r:embed="rId3"/>
          <a:srcRect/>
          <a:stretch/>
        </p:blipFill>
        <p:spPr>
          <a:xfrm>
            <a:off x="7776766" y="2171700"/>
            <a:ext cx="254000" cy="76200"/>
          </a:xfrm>
          <a:prstGeom prst="rect">
            <a:avLst/>
          </a:prstGeom>
        </p:spPr>
      </p:pic>
      <p:sp>
        <p:nvSpPr>
          <p:cNvPr id="13" name="Text 7"/>
          <p:cNvSpPr/>
          <p:nvPr/>
        </p:nvSpPr>
        <p:spPr>
          <a:xfrm>
            <a:off x="8033941" y="2174875"/>
            <a:ext cx="1540966" cy="1117600"/>
          </a:xfrm>
          <a:prstGeom prst="roundRect">
            <a:avLst>
              <a:gd name="adj" fmla="val 8807"/>
            </a:avLst>
          </a:prstGeom>
          <a:solidFill>
            <a:srgbClr val="FFFDF8"/>
          </a:solidFill>
          <a:ln w="6350">
            <a:solidFill>
              <a:srgbClr val="CFC9BA"/>
            </a:solidFill>
            <a:prstDash val="solid"/>
          </a:ln>
        </p:spPr>
        <p:txBody>
          <a:bodyPr wrap="square" lIns="152147" tIns="152147" rIns="101347" bIns="152147"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Operation</a:t>
            </a:r>
            <a:endParaRPr lang="en-US" sz="1400" dirty="0"/>
          </a:p>
        </p:txBody>
      </p:sp>
      <p:pic>
        <p:nvPicPr>
          <p:cNvPr id="14" name="Image 4" descr="connector"/>
          <p:cNvPicPr>
            <a:picLocks noChangeAspect="1"/>
          </p:cNvPicPr>
          <p:nvPr/>
        </p:nvPicPr>
        <p:blipFill>
          <a:blip r:embed="rId3"/>
          <a:srcRect/>
          <a:stretch/>
        </p:blipFill>
        <p:spPr>
          <a:xfrm>
            <a:off x="9578082" y="2171700"/>
            <a:ext cx="254000" cy="76200"/>
          </a:xfrm>
          <a:prstGeom prst="rect">
            <a:avLst/>
          </a:prstGeom>
        </p:spPr>
      </p:pic>
      <p:sp>
        <p:nvSpPr>
          <p:cNvPr id="15" name="Shape 8"/>
          <p:cNvSpPr/>
          <p:nvPr/>
        </p:nvSpPr>
        <p:spPr>
          <a:xfrm>
            <a:off x="9835257" y="2174875"/>
            <a:ext cx="1540966" cy="1117600"/>
          </a:xfrm>
          <a:prstGeom prst="roundRect">
            <a:avLst>
              <a:gd name="adj" fmla="val 8807"/>
            </a:avLst>
          </a:prstGeom>
          <a:solidFill>
            <a:srgbClr val="FFFDF8"/>
          </a:solidFill>
          <a:ln w="6350">
            <a:solidFill>
              <a:srgbClr val="CFC9BA"/>
            </a:solidFill>
            <a:prstDash val="solid"/>
          </a:ln>
        </p:spPr>
        <p:txBody>
          <a:bodyPr/>
          <a:lstStyle/>
          <a:p>
            <a:endParaRPr lang="en-AU"/>
          </a:p>
        </p:txBody>
      </p:sp>
      <p:sp>
        <p:nvSpPr>
          <p:cNvPr id="16" name="Text 9"/>
          <p:cNvSpPr/>
          <p:nvPr/>
        </p:nvSpPr>
        <p:spPr>
          <a:xfrm>
            <a:off x="10016232" y="2355850"/>
            <a:ext cx="1229816" cy="7683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Decommissioning and waste</a:t>
            </a:r>
            <a:endParaRPr lang="en-US" sz="1400" dirty="0"/>
          </a:p>
        </p:txBody>
      </p:sp>
      <p:sp>
        <p:nvSpPr>
          <p:cNvPr id="17" name="Text 10"/>
          <p:cNvSpPr/>
          <p:nvPr/>
        </p:nvSpPr>
        <p:spPr>
          <a:xfrm>
            <a:off x="812800" y="3651250"/>
            <a:ext cx="348823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Functional unit</a:t>
            </a:r>
            <a:endParaRPr lang="en-US" sz="1600" dirty="0"/>
          </a:p>
        </p:txBody>
      </p:sp>
      <p:sp>
        <p:nvSpPr>
          <p:cNvPr id="18" name="Text 11"/>
          <p:cNvSpPr/>
          <p:nvPr/>
        </p:nvSpPr>
        <p:spPr>
          <a:xfrm>
            <a:off x="812800" y="3943350"/>
            <a:ext cx="3488233" cy="2730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1 MWh of electricity delivered to the grid</a:t>
            </a:r>
            <a:endParaRPr lang="en-US" sz="1400" dirty="0"/>
          </a:p>
        </p:txBody>
      </p:sp>
      <p:sp>
        <p:nvSpPr>
          <p:cNvPr id="19" name="Text 12"/>
          <p:cNvSpPr/>
          <p:nvPr/>
        </p:nvSpPr>
        <p:spPr>
          <a:xfrm>
            <a:off x="4402634" y="3651250"/>
            <a:ext cx="348823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Tools</a:t>
            </a:r>
            <a:endParaRPr lang="en-US" sz="1600" dirty="0"/>
          </a:p>
        </p:txBody>
      </p:sp>
      <p:sp>
        <p:nvSpPr>
          <p:cNvPr id="20" name="Text 13"/>
          <p:cNvSpPr/>
          <p:nvPr/>
        </p:nvSpPr>
        <p:spPr>
          <a:xfrm>
            <a:off x="4402634" y="3943350"/>
            <a:ext cx="3488233" cy="52070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3D4A63"/>
                </a:solidFill>
                <a:latin typeface="IBM Plex Sans" pitchFamily="34" charset="0"/>
                <a:ea typeface="IBM Plex Sans" pitchFamily="34" charset="-122"/>
                <a:cs typeface="IBM Plex Sans" pitchFamily="34" charset="-120"/>
              </a:rPr>
              <a:t>Granta Eco Audit for construction materials; literature for fuel and waste</a:t>
            </a:r>
            <a:endParaRPr lang="en-US" sz="1400" dirty="0"/>
          </a:p>
        </p:txBody>
      </p:sp>
      <p:sp>
        <p:nvSpPr>
          <p:cNvPr id="21" name="Text 14"/>
          <p:cNvSpPr/>
          <p:nvPr/>
        </p:nvSpPr>
        <p:spPr>
          <a:xfrm>
            <a:off x="7992467" y="3651250"/>
            <a:ext cx="348823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Our focus</a:t>
            </a:r>
            <a:endParaRPr lang="en-US" sz="1600" dirty="0"/>
          </a:p>
        </p:txBody>
      </p:sp>
      <p:sp>
        <p:nvSpPr>
          <p:cNvPr id="22" name="Text 15"/>
          <p:cNvSpPr/>
          <p:nvPr/>
        </p:nvSpPr>
        <p:spPr>
          <a:xfrm>
            <a:off x="7992467" y="3943350"/>
            <a:ext cx="3488233" cy="52070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3D4A63"/>
                </a:solidFill>
                <a:latin typeface="IBM Plex Sans" pitchFamily="34" charset="0"/>
                <a:ea typeface="IBM Plex Sans" pitchFamily="34" charset="-122"/>
                <a:cs typeface="IBM Plex Sans" pitchFamily="34" charset="-120"/>
              </a:rPr>
              <a:t>Baseline vs LC³ concrete embodied CO₂ and energy</a:t>
            </a:r>
            <a:endParaRPr lang="en-US" sz="1400" dirty="0"/>
          </a:p>
        </p:txBody>
      </p:sp>
      <p:sp>
        <p:nvSpPr>
          <p:cNvPr id="23" name="Text 16"/>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Reference inventory: BWRX-300 Ostrołęka Project Information Sheet (2023), Table 14; ISO 14040/44 framework</a:t>
            </a:r>
            <a:endParaRPr lang="en-US" sz="900" dirty="0"/>
          </a:p>
        </p:txBody>
      </p:sp>
      <p:sp>
        <p:nvSpPr>
          <p:cNvPr id="24" name="Rounded Rectangle 23"/>
          <p:cNvSpPr/>
          <p:nvPr/>
        </p:nvSpPr>
        <p:spPr>
          <a:xfrm>
            <a:off x="813816" y="4782312"/>
            <a:ext cx="10552176" cy="941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69848" y="4937760"/>
            <a:ext cx="3977639" cy="237744"/>
          </a:xfrm>
          <a:prstGeom prst="rect">
            <a:avLst/>
          </a:prstGeom>
          <a:noFill/>
        </p:spPr>
        <p:txBody>
          <a:bodyPr wrap="square" lIns="0" tIns="13716" rIns="0" bIns="13716" anchor="ctr">
            <a:spAutoFit/>
          </a:bodyPr>
          <a:lstStyle/>
          <a:p>
            <a:pPr algn="l">
              <a:spcBef>
                <a:spcPts val="0"/>
              </a:spcBef>
              <a:spcAft>
                <a:spcPts val="0"/>
              </a:spcAft>
            </a:pPr>
            <a:r>
              <a:rPr sz="1200" b="1">
                <a:solidFill>
                  <a:srgbClr val="C2410C"/>
                </a:solidFill>
                <a:latin typeface="IBM Plex Sans"/>
              </a:rPr>
              <a:t>PRELIMINARY INVENTORY · ONE BWRX-300</a:t>
            </a:r>
          </a:p>
        </p:txBody>
      </p:sp>
      <p:sp>
        <p:nvSpPr>
          <p:cNvPr id="26" name="TextBox 25"/>
          <p:cNvSpPr txBox="1"/>
          <p:nvPr/>
        </p:nvSpPr>
        <p:spPr>
          <a:xfrm>
            <a:off x="1069848" y="5294376"/>
            <a:ext cx="3319272" cy="329184"/>
          </a:xfrm>
          <a:prstGeom prst="rect">
            <a:avLst/>
          </a:prstGeom>
          <a:noFill/>
        </p:spPr>
        <p:txBody>
          <a:bodyPr wrap="square" lIns="0" tIns="13716" rIns="0" bIns="13716" anchor="ctr">
            <a:spAutoFit/>
          </a:bodyPr>
          <a:lstStyle/>
          <a:p>
            <a:pPr algn="l">
              <a:spcBef>
                <a:spcPts val="0"/>
              </a:spcBef>
              <a:spcAft>
                <a:spcPts val="0"/>
              </a:spcAft>
            </a:pPr>
            <a:r>
              <a:rPr sz="2000" b="1">
                <a:solidFill>
                  <a:srgbClr val="14213D"/>
                </a:solidFill>
                <a:latin typeface="Space Grotesk"/>
              </a:rPr>
              <a:t>50,000 m³ concrete</a:t>
            </a:r>
          </a:p>
        </p:txBody>
      </p:sp>
      <p:sp>
        <p:nvSpPr>
          <p:cNvPr id="27" name="TextBox 26"/>
          <p:cNvSpPr txBox="1"/>
          <p:nvPr/>
        </p:nvSpPr>
        <p:spPr>
          <a:xfrm>
            <a:off x="4590288" y="5294376"/>
            <a:ext cx="2770632" cy="329184"/>
          </a:xfrm>
          <a:prstGeom prst="rect">
            <a:avLst/>
          </a:prstGeom>
          <a:noFill/>
        </p:spPr>
        <p:txBody>
          <a:bodyPr wrap="square" lIns="0" tIns="13716" rIns="0" bIns="13716" anchor="ctr">
            <a:spAutoFit/>
          </a:bodyPr>
          <a:lstStyle/>
          <a:p>
            <a:pPr algn="l">
              <a:spcBef>
                <a:spcPts val="0"/>
              </a:spcBef>
              <a:spcAft>
                <a:spcPts val="0"/>
              </a:spcAft>
            </a:pPr>
            <a:r>
              <a:rPr sz="2000" b="1">
                <a:solidFill>
                  <a:srgbClr val="1F5FA8"/>
                </a:solidFill>
                <a:latin typeface="Space Grotesk"/>
              </a:rPr>
              <a:t>14,000 t steel</a:t>
            </a:r>
          </a:p>
        </p:txBody>
      </p:sp>
      <p:sp>
        <p:nvSpPr>
          <p:cNvPr id="28" name="TextBox 27"/>
          <p:cNvSpPr txBox="1"/>
          <p:nvPr/>
        </p:nvSpPr>
        <p:spPr>
          <a:xfrm>
            <a:off x="7653527" y="4965192"/>
            <a:ext cx="3346704" cy="658368"/>
          </a:xfrm>
          <a:prstGeom prst="rect">
            <a:avLst/>
          </a:prstGeom>
          <a:noFill/>
        </p:spPr>
        <p:txBody>
          <a:bodyPr wrap="square" lIns="0" tIns="13716" rIns="0" bIns="13716" anchor="ctr">
            <a:spAutoFit/>
          </a:bodyPr>
          <a:lstStyle/>
          <a:p>
            <a:pPr algn="l">
              <a:spcBef>
                <a:spcPts val="0"/>
              </a:spcBef>
              <a:spcAft>
                <a:spcPts val="0"/>
              </a:spcAft>
            </a:pPr>
            <a:r>
              <a:rPr sz="1200" b="0">
                <a:solidFill>
                  <a:srgbClr val="3D4A63"/>
                </a:solidFill>
                <a:latin typeface="IBM Plex Sans"/>
              </a:rPr>
              <a:t>Polish project proxy, not confirmed Darlington quantities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AE1"/>
        </a:solidFill>
        <a:effectLst/>
      </p:bgPr>
    </p:bg>
    <p:spTree>
      <p:nvGrpSpPr>
        <p:cNvPr id="1" name=""/>
        <p:cNvGrpSpPr/>
        <p:nvPr/>
      </p:nvGrpSpPr>
      <p:grpSpPr>
        <a:xfrm>
          <a:off x="0" y="0"/>
          <a:ext cx="0" cy="0"/>
          <a:chOff x="0" y="0"/>
          <a:chExt cx="0" cy="0"/>
        </a:xfrm>
      </p:grpSpPr>
      <p:sp>
        <p:nvSpPr>
          <p:cNvPr id="2" name="TextBox 1"/>
          <p:cNvSpPr txBox="1"/>
          <p:nvPr/>
        </p:nvSpPr>
        <p:spPr>
          <a:xfrm>
            <a:off x="813816" y="685800"/>
            <a:ext cx="10789920" cy="1078992"/>
          </a:xfrm>
          <a:prstGeom prst="rect">
            <a:avLst/>
          </a:prstGeom>
          <a:noFill/>
        </p:spPr>
        <p:txBody>
          <a:bodyPr wrap="square" lIns="0" tIns="9144" rIns="0" bIns="9144" anchor="ctr">
            <a:spAutoFit/>
          </a:bodyPr>
          <a:lstStyle/>
          <a:p>
            <a:pPr algn="l">
              <a:spcBef>
                <a:spcPts val="0"/>
              </a:spcBef>
              <a:spcAft>
                <a:spcPts val="0"/>
              </a:spcAft>
            </a:pPr>
            <a:r>
              <a:rPr sz="3200" b="1">
                <a:solidFill>
                  <a:srgbClr val="14213D"/>
                </a:solidFill>
                <a:latin typeface="Space Grotesk"/>
              </a:rPr>
              <a:t>LC³ can reduce concrete production emissions</a:t>
            </a:r>
          </a:p>
        </p:txBody>
      </p:sp>
      <p:sp>
        <p:nvSpPr>
          <p:cNvPr id="3" name="TextBox 2"/>
          <p:cNvSpPr txBox="1"/>
          <p:nvPr/>
        </p:nvSpPr>
        <p:spPr>
          <a:xfrm>
            <a:off x="822960" y="1664208"/>
            <a:ext cx="10607040" cy="365760"/>
          </a:xfrm>
          <a:prstGeom prst="rect">
            <a:avLst/>
          </a:prstGeom>
          <a:noFill/>
        </p:spPr>
        <p:txBody>
          <a:bodyPr wrap="square" lIns="0" tIns="9144" rIns="0" bIns="9144" anchor="ctr">
            <a:spAutoFit/>
          </a:bodyPr>
          <a:lstStyle/>
          <a:p>
            <a:pPr algn="l">
              <a:spcBef>
                <a:spcPts val="0"/>
              </a:spcBef>
              <a:spcAft>
                <a:spcPts val="0"/>
              </a:spcAft>
            </a:pPr>
            <a:r>
              <a:rPr sz="1260" b="1" dirty="0">
                <a:solidFill>
                  <a:srgbClr val="C2410C"/>
                </a:solidFill>
                <a:latin typeface="IBM Plex Sans"/>
              </a:rPr>
              <a:t>PUBLISHED M50 CONCRETE MIXES  ·  CRADLE-TO-GATE CO₂-EQ PER m³</a:t>
            </a:r>
          </a:p>
        </p:txBody>
      </p:sp>
      <p:sp>
        <p:nvSpPr>
          <p:cNvPr id="4" name="TextBox 3"/>
          <p:cNvSpPr txBox="1"/>
          <p:nvPr/>
        </p:nvSpPr>
        <p:spPr>
          <a:xfrm>
            <a:off x="841248" y="2212848"/>
            <a:ext cx="6400800" cy="301752"/>
          </a:xfrm>
          <a:prstGeom prst="rect">
            <a:avLst/>
          </a:prstGeom>
          <a:noFill/>
        </p:spPr>
        <p:txBody>
          <a:bodyPr wrap="square" lIns="0" tIns="9144" rIns="0" bIns="9144" anchor="ctr">
            <a:spAutoFit/>
          </a:bodyPr>
          <a:lstStyle/>
          <a:p>
            <a:pPr algn="l">
              <a:spcBef>
                <a:spcPts val="0"/>
              </a:spcBef>
              <a:spcAft>
                <a:spcPts val="0"/>
              </a:spcAft>
            </a:pPr>
            <a:r>
              <a:rPr sz="1540" b="1">
                <a:solidFill>
                  <a:srgbClr val="14213D"/>
                </a:solidFill>
                <a:latin typeface="IBM Plex Sans"/>
              </a:rPr>
              <a:t>Peer-reviewed concrete mix comparison (Pillai et al., 2019)</a:t>
            </a:r>
          </a:p>
        </p:txBody>
      </p:sp>
      <p:sp>
        <p:nvSpPr>
          <p:cNvPr id="5" name="TextBox 4"/>
          <p:cNvSpPr txBox="1"/>
          <p:nvPr/>
        </p:nvSpPr>
        <p:spPr>
          <a:xfrm>
            <a:off x="841248" y="2724912"/>
            <a:ext cx="2971800" cy="365760"/>
          </a:xfrm>
          <a:prstGeom prst="rect">
            <a:avLst/>
          </a:prstGeom>
          <a:noFill/>
        </p:spPr>
        <p:txBody>
          <a:bodyPr wrap="square" lIns="0" tIns="9144" rIns="0" bIns="9144" anchor="ctr">
            <a:spAutoFit/>
          </a:bodyPr>
          <a:lstStyle/>
          <a:p>
            <a:pPr algn="l">
              <a:spcBef>
                <a:spcPts val="0"/>
              </a:spcBef>
              <a:spcAft>
                <a:spcPts val="0"/>
              </a:spcAft>
            </a:pPr>
            <a:r>
              <a:rPr sz="1460" b="1">
                <a:solidFill>
                  <a:srgbClr val="14213D"/>
                </a:solidFill>
                <a:latin typeface="IBM Plex Sans"/>
              </a:rPr>
              <a:t>Portland cement (OPC)</a:t>
            </a:r>
          </a:p>
        </p:txBody>
      </p:sp>
      <p:sp>
        <p:nvSpPr>
          <p:cNvPr id="6" name="Rounded Rectangle 5"/>
          <p:cNvSpPr/>
          <p:nvPr/>
        </p:nvSpPr>
        <p:spPr>
          <a:xfrm>
            <a:off x="3694176" y="2756916"/>
            <a:ext cx="3429000" cy="265176"/>
          </a:xfrm>
          <a:prstGeom prst="roundRect">
            <a:avLst>
              <a:gd name="adj" fmla="val 8000"/>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78624" y="2683764"/>
            <a:ext cx="1371600" cy="411480"/>
          </a:xfrm>
          <a:prstGeom prst="rect">
            <a:avLst/>
          </a:prstGeom>
          <a:noFill/>
        </p:spPr>
        <p:txBody>
          <a:bodyPr wrap="square" lIns="0" tIns="9144" rIns="0" bIns="9144" anchor="ctr">
            <a:spAutoFit/>
          </a:bodyPr>
          <a:lstStyle/>
          <a:p>
            <a:pPr algn="l">
              <a:spcBef>
                <a:spcPts val="0"/>
              </a:spcBef>
              <a:spcAft>
                <a:spcPts val="0"/>
              </a:spcAft>
            </a:pPr>
            <a:r>
              <a:rPr sz="1800" b="1">
                <a:solidFill>
                  <a:srgbClr val="C2410C"/>
                </a:solidFill>
                <a:latin typeface="Space Grotesk"/>
              </a:rPr>
              <a:t>380 kg</a:t>
            </a:r>
          </a:p>
        </p:txBody>
      </p:sp>
      <p:sp>
        <p:nvSpPr>
          <p:cNvPr id="8" name="TextBox 7"/>
          <p:cNvSpPr txBox="1"/>
          <p:nvPr/>
        </p:nvSpPr>
        <p:spPr>
          <a:xfrm>
            <a:off x="841248" y="3401568"/>
            <a:ext cx="2971800" cy="365760"/>
          </a:xfrm>
          <a:prstGeom prst="rect">
            <a:avLst/>
          </a:prstGeom>
          <a:noFill/>
        </p:spPr>
        <p:txBody>
          <a:bodyPr wrap="square" lIns="0" tIns="9144" rIns="0" bIns="9144" anchor="ctr">
            <a:spAutoFit/>
          </a:bodyPr>
          <a:lstStyle/>
          <a:p>
            <a:pPr algn="l">
              <a:spcBef>
                <a:spcPts val="0"/>
              </a:spcBef>
              <a:spcAft>
                <a:spcPts val="0"/>
              </a:spcAft>
            </a:pPr>
            <a:r>
              <a:rPr sz="1410" b="1">
                <a:solidFill>
                  <a:srgbClr val="14213D"/>
                </a:solidFill>
                <a:latin typeface="IBM Plex Sans"/>
              </a:rPr>
              <a:t>LC³ (calcined clay + limestone)</a:t>
            </a:r>
          </a:p>
        </p:txBody>
      </p:sp>
      <p:sp>
        <p:nvSpPr>
          <p:cNvPr id="9" name="Rounded Rectangle 8"/>
          <p:cNvSpPr/>
          <p:nvPr/>
        </p:nvSpPr>
        <p:spPr>
          <a:xfrm>
            <a:off x="3694176" y="3442716"/>
            <a:ext cx="2432304" cy="265176"/>
          </a:xfrm>
          <a:prstGeom prst="roundRect">
            <a:avLst>
              <a:gd name="adj" fmla="val 8000"/>
            </a:avLst>
          </a:prstGeom>
          <a:solidFill>
            <a:srgbClr val="1F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72784" y="3369564"/>
            <a:ext cx="1371600" cy="411480"/>
          </a:xfrm>
          <a:prstGeom prst="rect">
            <a:avLst/>
          </a:prstGeom>
          <a:noFill/>
        </p:spPr>
        <p:txBody>
          <a:bodyPr wrap="square" lIns="0" tIns="9144" rIns="0" bIns="9144" anchor="ctr">
            <a:spAutoFit/>
          </a:bodyPr>
          <a:lstStyle/>
          <a:p>
            <a:pPr algn="l">
              <a:spcBef>
                <a:spcPts val="0"/>
              </a:spcBef>
              <a:spcAft>
                <a:spcPts val="0"/>
              </a:spcAft>
            </a:pPr>
            <a:r>
              <a:rPr sz="1800" b="1">
                <a:solidFill>
                  <a:srgbClr val="1F5FA8"/>
                </a:solidFill>
                <a:latin typeface="Space Grotesk"/>
              </a:rPr>
              <a:t>270 kg</a:t>
            </a:r>
          </a:p>
        </p:txBody>
      </p:sp>
      <p:sp>
        <p:nvSpPr>
          <p:cNvPr id="11" name="TextBox 10"/>
          <p:cNvSpPr txBox="1"/>
          <p:nvPr/>
        </p:nvSpPr>
        <p:spPr>
          <a:xfrm>
            <a:off x="841248" y="3968496"/>
            <a:ext cx="6519672" cy="539496"/>
          </a:xfrm>
          <a:prstGeom prst="rect">
            <a:avLst/>
          </a:prstGeom>
          <a:noFill/>
        </p:spPr>
        <p:txBody>
          <a:bodyPr wrap="square" lIns="0" tIns="9144" rIns="0" bIns="9144" anchor="ctr">
            <a:spAutoFit/>
          </a:bodyPr>
          <a:lstStyle/>
          <a:p>
            <a:pPr algn="l">
              <a:spcBef>
                <a:spcPts val="0"/>
              </a:spcBef>
              <a:spcAft>
                <a:spcPts val="0"/>
              </a:spcAft>
            </a:pPr>
            <a:r>
              <a:rPr sz="1290" b="0">
                <a:solidFill>
                  <a:srgbClr val="3D4A63"/>
                </a:solidFill>
                <a:latin typeface="IBM Plex Sans"/>
              </a:rPr>
              <a:t>Both mixes were in the M50 strength class (28-day mean strengths: OPC 60.0 MPa; LC³ 56.7 MPa).</a:t>
            </a:r>
          </a:p>
        </p:txBody>
      </p:sp>
      <p:sp>
        <p:nvSpPr>
          <p:cNvPr id="12" name="TextBox 11"/>
          <p:cNvSpPr txBox="1"/>
          <p:nvPr/>
        </p:nvSpPr>
        <p:spPr>
          <a:xfrm>
            <a:off x="841248" y="4645152"/>
            <a:ext cx="6812280" cy="402336"/>
          </a:xfrm>
          <a:prstGeom prst="rect">
            <a:avLst/>
          </a:prstGeom>
          <a:noFill/>
        </p:spPr>
        <p:txBody>
          <a:bodyPr wrap="square" lIns="0" tIns="9144" rIns="0" bIns="9144" anchor="ctr">
            <a:spAutoFit/>
          </a:bodyPr>
          <a:lstStyle/>
          <a:p>
            <a:pPr algn="l">
              <a:spcBef>
                <a:spcPts val="0"/>
              </a:spcBef>
              <a:spcAft>
                <a:spcPts val="0"/>
              </a:spcAft>
            </a:pPr>
            <a:r>
              <a:rPr sz="1700" b="1">
                <a:solidFill>
                  <a:srgbClr val="30765C"/>
                </a:solidFill>
                <a:latin typeface="Space Grotesk"/>
              </a:rPr>
              <a:t>110 kg CO₂-eq saved/m³  ·  28.9% reduction</a:t>
            </a:r>
          </a:p>
        </p:txBody>
      </p:sp>
      <p:sp>
        <p:nvSpPr>
          <p:cNvPr id="13" name="Rounded Rectangle 12"/>
          <p:cNvSpPr/>
          <p:nvPr/>
        </p:nvSpPr>
        <p:spPr>
          <a:xfrm>
            <a:off x="8476488" y="2167128"/>
            <a:ext cx="2880360" cy="27523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2520" y="2432304"/>
            <a:ext cx="2423160" cy="493776"/>
          </a:xfrm>
          <a:prstGeom prst="rect">
            <a:avLst/>
          </a:prstGeom>
          <a:noFill/>
        </p:spPr>
        <p:txBody>
          <a:bodyPr wrap="square" lIns="0" tIns="9144" rIns="0" bIns="9144" anchor="ctr">
            <a:spAutoFit/>
          </a:bodyPr>
          <a:lstStyle/>
          <a:p>
            <a:pPr algn="l">
              <a:spcBef>
                <a:spcPts val="0"/>
              </a:spcBef>
              <a:spcAft>
                <a:spcPts val="0"/>
              </a:spcAft>
            </a:pPr>
            <a:r>
              <a:rPr sz="1160" b="1">
                <a:solidFill>
                  <a:srgbClr val="C2410C"/>
                </a:solidFill>
                <a:latin typeface="IBM Plex Sans"/>
              </a:rPr>
              <a:t>CONDITIONAL SAVING
PER BWRX-300 UNIT</a:t>
            </a:r>
          </a:p>
        </p:txBody>
      </p:sp>
      <p:sp>
        <p:nvSpPr>
          <p:cNvPr id="15" name="TextBox 14"/>
          <p:cNvSpPr txBox="1"/>
          <p:nvPr/>
        </p:nvSpPr>
        <p:spPr>
          <a:xfrm>
            <a:off x="8714232" y="3090672"/>
            <a:ext cx="2468880" cy="566928"/>
          </a:xfrm>
          <a:prstGeom prst="rect">
            <a:avLst/>
          </a:prstGeom>
          <a:noFill/>
        </p:spPr>
        <p:txBody>
          <a:bodyPr wrap="square" lIns="0" tIns="9144" rIns="0" bIns="9144" anchor="ctr">
            <a:spAutoFit/>
          </a:bodyPr>
          <a:lstStyle/>
          <a:p>
            <a:pPr algn="l">
              <a:spcBef>
                <a:spcPts val="0"/>
              </a:spcBef>
              <a:spcAft>
                <a:spcPts val="0"/>
              </a:spcAft>
            </a:pPr>
            <a:r>
              <a:rPr sz="3300" b="1">
                <a:solidFill>
                  <a:srgbClr val="30765C"/>
                </a:solidFill>
                <a:latin typeface="Space Grotesk"/>
              </a:rPr>
              <a:t>2,200 t</a:t>
            </a:r>
          </a:p>
        </p:txBody>
      </p:sp>
      <p:sp>
        <p:nvSpPr>
          <p:cNvPr id="16" name="TextBox 15"/>
          <p:cNvSpPr txBox="1"/>
          <p:nvPr/>
        </p:nvSpPr>
        <p:spPr>
          <a:xfrm>
            <a:off x="8732520" y="3813048"/>
            <a:ext cx="2395728" cy="777240"/>
          </a:xfrm>
          <a:prstGeom prst="rect">
            <a:avLst/>
          </a:prstGeom>
          <a:noFill/>
        </p:spPr>
        <p:txBody>
          <a:bodyPr wrap="square" lIns="0" tIns="9144" rIns="0" bIns="9144" anchor="ctr">
            <a:spAutoFit/>
          </a:bodyPr>
          <a:lstStyle/>
          <a:p>
            <a:pPr algn="l">
              <a:spcBef>
                <a:spcPts val="0"/>
              </a:spcBef>
              <a:spcAft>
                <a:spcPts val="0"/>
              </a:spcAft>
            </a:pPr>
            <a:r>
              <a:rPr sz="1290" b="0">
                <a:solidFill>
                  <a:srgbClr val="3D4A63"/>
                </a:solidFill>
                <a:latin typeface="IBM Plex Sans"/>
              </a:rPr>
              <a:t>CO₂-eq avoided IF 40% of 50,000 m³ qualifies for substitution</a:t>
            </a:r>
          </a:p>
        </p:txBody>
      </p:sp>
      <p:sp>
        <p:nvSpPr>
          <p:cNvPr id="17" name="Rounded Rectangle 16"/>
          <p:cNvSpPr/>
          <p:nvPr/>
        </p:nvSpPr>
        <p:spPr>
          <a:xfrm>
            <a:off x="813816" y="5084064"/>
            <a:ext cx="10561320" cy="585216"/>
          </a:xfrm>
          <a:prstGeom prst="roundRect">
            <a:avLst>
              <a:gd name="adj" fmla="val 8000"/>
            </a:avLst>
          </a:prstGeom>
          <a:solidFill>
            <a:srgbClr val="E8E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5166360"/>
            <a:ext cx="10040112" cy="365760"/>
          </a:xfrm>
          <a:prstGeom prst="rect">
            <a:avLst/>
          </a:prstGeom>
          <a:noFill/>
        </p:spPr>
        <p:txBody>
          <a:bodyPr wrap="square" lIns="0" tIns="9144" rIns="0" bIns="9144" anchor="ctr">
            <a:spAutoFit/>
          </a:bodyPr>
          <a:lstStyle/>
          <a:p>
            <a:pPr algn="l">
              <a:spcBef>
                <a:spcPts val="0"/>
              </a:spcBef>
              <a:spcAft>
                <a:spcPts val="0"/>
              </a:spcAft>
            </a:pPr>
            <a:r>
              <a:rPr sz="1680" b="1">
                <a:solidFill>
                  <a:srgbClr val="14213D"/>
                </a:solidFill>
                <a:latin typeface="Space Grotesk"/>
              </a:rPr>
              <a:t>ΔCO₂ = 50,000 m³ × 40% × (380 − 270) kg/m³ ÷ 1,000 = 2,200 t</a:t>
            </a:r>
          </a:p>
        </p:txBody>
      </p:sp>
      <p:sp>
        <p:nvSpPr>
          <p:cNvPr id="19" name="TextBox 18"/>
          <p:cNvSpPr txBox="1"/>
          <p:nvPr/>
        </p:nvSpPr>
        <p:spPr>
          <a:xfrm>
            <a:off x="813816" y="5879379"/>
            <a:ext cx="10698480" cy="201594"/>
          </a:xfrm>
          <a:prstGeom prst="rect">
            <a:avLst/>
          </a:prstGeom>
          <a:noFill/>
        </p:spPr>
        <p:txBody>
          <a:bodyPr wrap="square" lIns="0" tIns="9144" rIns="0" bIns="9144" anchor="ctr">
            <a:spAutoFit/>
          </a:bodyPr>
          <a:lstStyle/>
          <a:p>
            <a:pPr algn="l">
              <a:spcBef>
                <a:spcPts val="0"/>
              </a:spcBef>
              <a:spcAft>
                <a:spcPts val="0"/>
              </a:spcAft>
            </a:pPr>
            <a:r>
              <a:rPr sz="1190" b="1" dirty="0">
                <a:solidFill>
                  <a:srgbClr val="C2410C"/>
                </a:solidFill>
                <a:latin typeface="IBM Plex Sans"/>
              </a:rPr>
              <a:t>40% eligible is an ASSUMPTION; 50,000 m³ is a Polish BWRX-300 design proxy</a:t>
            </a:r>
            <a:r>
              <a:rPr lang="en-AU" sz="1190" b="1" dirty="0">
                <a:solidFill>
                  <a:srgbClr val="C2410C"/>
                </a:solidFill>
                <a:latin typeface="IBM Plex Sans"/>
              </a:rPr>
              <a:t>.</a:t>
            </a:r>
            <a:endParaRPr sz="1190" b="1" dirty="0">
              <a:solidFill>
                <a:srgbClr val="C2410C"/>
              </a:solidFill>
              <a:latin typeface="IBM Plex Sans"/>
            </a:endParaRPr>
          </a:p>
        </p:txBody>
      </p:sp>
      <p:sp>
        <p:nvSpPr>
          <p:cNvPr id="20" name="TextBox 19"/>
          <p:cNvSpPr txBox="1"/>
          <p:nvPr/>
        </p:nvSpPr>
        <p:spPr>
          <a:xfrm>
            <a:off x="813816" y="6386325"/>
            <a:ext cx="10835640" cy="156966"/>
          </a:xfrm>
          <a:prstGeom prst="rect">
            <a:avLst/>
          </a:prstGeom>
          <a:noFill/>
        </p:spPr>
        <p:txBody>
          <a:bodyPr wrap="square" lIns="0" tIns="9144" rIns="0" bIns="9144" anchor="ctr">
            <a:spAutoFit/>
          </a:bodyPr>
          <a:lstStyle/>
          <a:p>
            <a:pPr algn="l">
              <a:spcBef>
                <a:spcPts val="0"/>
              </a:spcBef>
              <a:spcAft>
                <a:spcPts val="0"/>
              </a:spcAft>
            </a:pPr>
            <a:r>
              <a:rPr sz="900" b="0" dirty="0">
                <a:solidFill>
                  <a:srgbClr val="6B7487"/>
                </a:solidFill>
                <a:latin typeface="IBM Plex Sans"/>
              </a:rPr>
              <a:t>Sources: Pillai et al. (2019), Table 2, DOI:10.1016/j.cemconres.2018.11.019; BWRX-300 </a:t>
            </a:r>
            <a:r>
              <a:rPr sz="900" b="0" dirty="0" err="1">
                <a:solidFill>
                  <a:srgbClr val="6B7487"/>
                </a:solidFill>
                <a:latin typeface="IBM Plex Sans"/>
              </a:rPr>
              <a:t>Ostrołęka</a:t>
            </a:r>
            <a:r>
              <a:rPr sz="900" b="0" dirty="0">
                <a:solidFill>
                  <a:srgbClr val="6B7487"/>
                </a:solidFill>
                <a:latin typeface="IBM Plex Sans"/>
              </a:rPr>
              <a:t> (2023), Table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1"/>
        </a:solidFill>
        <a:effectLst/>
      </p:bgPr>
    </p:bg>
    <p:spTree>
      <p:nvGrpSpPr>
        <p:cNvPr id="1" name=""/>
        <p:cNvGrpSpPr/>
        <p:nvPr/>
      </p:nvGrpSpPr>
      <p:grpSpPr>
        <a:xfrm>
          <a:off x="0" y="0"/>
          <a:ext cx="0" cy="0"/>
          <a:chOff x="0" y="0"/>
          <a:chExt cx="0" cy="0"/>
        </a:xfrm>
      </p:grpSpPr>
      <p:sp>
        <p:nvSpPr>
          <p:cNvPr id="2" name="TextBox 1"/>
          <p:cNvSpPr txBox="1"/>
          <p:nvPr/>
        </p:nvSpPr>
        <p:spPr>
          <a:xfrm>
            <a:off x="813816" y="713232"/>
            <a:ext cx="10652760" cy="1060704"/>
          </a:xfrm>
          <a:prstGeom prst="rect">
            <a:avLst/>
          </a:prstGeom>
          <a:noFill/>
        </p:spPr>
        <p:txBody>
          <a:bodyPr wrap="square" lIns="0" tIns="13716" rIns="0" bIns="13716" anchor="ctr">
            <a:spAutoFit/>
          </a:bodyPr>
          <a:lstStyle/>
          <a:p>
            <a:pPr algn="l">
              <a:spcBef>
                <a:spcPts val="0"/>
              </a:spcBef>
              <a:spcAft>
                <a:spcPts val="0"/>
              </a:spcAft>
            </a:pPr>
            <a:r>
              <a:rPr sz="3400" b="1">
                <a:solidFill>
                  <a:srgbClr val="14213D"/>
                </a:solidFill>
                <a:latin typeface="Space Grotesk"/>
              </a:rPr>
              <a:t>What would make LC³ feasible in a nuclear project?</a:t>
            </a:r>
          </a:p>
        </p:txBody>
      </p:sp>
      <p:sp>
        <p:nvSpPr>
          <p:cNvPr id="3" name="Rounded Rectangle 2"/>
          <p:cNvSpPr/>
          <p:nvPr/>
        </p:nvSpPr>
        <p:spPr>
          <a:xfrm>
            <a:off x="813816" y="1874519"/>
            <a:ext cx="3383280" cy="2532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60704" y="2121408"/>
            <a:ext cx="2907792" cy="292608"/>
          </a:xfrm>
          <a:prstGeom prst="rect">
            <a:avLst/>
          </a:prstGeom>
          <a:noFill/>
        </p:spPr>
        <p:txBody>
          <a:bodyPr wrap="square" lIns="0" tIns="13716" rIns="0" bIns="13716" anchor="ctr">
            <a:spAutoFit/>
          </a:bodyPr>
          <a:lstStyle/>
          <a:p>
            <a:pPr algn="l">
              <a:spcBef>
                <a:spcPts val="0"/>
              </a:spcBef>
              <a:spcAft>
                <a:spcPts val="0"/>
              </a:spcAft>
            </a:pPr>
            <a:r>
              <a:rPr sz="1300" b="1">
                <a:solidFill>
                  <a:srgbClr val="C2410C"/>
                </a:solidFill>
                <a:latin typeface="IBM Plex Sans"/>
              </a:rPr>
              <a:t>01  WORKABILITY</a:t>
            </a:r>
          </a:p>
        </p:txBody>
      </p:sp>
      <p:sp>
        <p:nvSpPr>
          <p:cNvPr id="5" name="TextBox 4"/>
          <p:cNvSpPr txBox="1"/>
          <p:nvPr/>
        </p:nvSpPr>
        <p:spPr>
          <a:xfrm>
            <a:off x="1060704" y="2542032"/>
            <a:ext cx="2898648" cy="658368"/>
          </a:xfrm>
          <a:prstGeom prst="rect">
            <a:avLst/>
          </a:prstGeom>
          <a:noFill/>
        </p:spPr>
        <p:txBody>
          <a:bodyPr wrap="square" lIns="0" tIns="13716" rIns="0" bIns="13716" anchor="ctr">
            <a:spAutoFit/>
          </a:bodyPr>
          <a:lstStyle/>
          <a:p>
            <a:pPr algn="l">
              <a:spcBef>
                <a:spcPts val="0"/>
              </a:spcBef>
              <a:spcAft>
                <a:spcPts val="0"/>
              </a:spcAft>
            </a:pPr>
            <a:r>
              <a:rPr sz="1900" b="1">
                <a:solidFill>
                  <a:srgbClr val="14213D"/>
                </a:solidFill>
                <a:latin typeface="Space Grotesk"/>
              </a:rPr>
              <a:t>Flows through tight steel-composite spaces</a:t>
            </a:r>
          </a:p>
        </p:txBody>
      </p:sp>
      <p:sp>
        <p:nvSpPr>
          <p:cNvPr id="6" name="TextBox 5"/>
          <p:cNvSpPr txBox="1"/>
          <p:nvPr/>
        </p:nvSpPr>
        <p:spPr>
          <a:xfrm>
            <a:off x="1060704" y="3364992"/>
            <a:ext cx="2898648" cy="758952"/>
          </a:xfrm>
          <a:prstGeom prst="rect">
            <a:avLst/>
          </a:prstGeom>
          <a:noFill/>
        </p:spPr>
        <p:txBody>
          <a:bodyPr wrap="square" lIns="0" tIns="13716" rIns="0" bIns="13716" anchor="t">
            <a:spAutoFit/>
          </a:bodyPr>
          <a:lstStyle/>
          <a:p>
            <a:pPr algn="l">
              <a:spcBef>
                <a:spcPts val="0"/>
              </a:spcBef>
              <a:spcAft>
                <a:spcPts val="0"/>
              </a:spcAft>
            </a:pPr>
            <a:r>
              <a:rPr sz="1310" b="0">
                <a:solidFill>
                  <a:srgbClr val="3D4A63"/>
                </a:solidFill>
                <a:latin typeface="IBM Plex Sans"/>
              </a:rPr>
              <a:t>Test slump flow, segregation, filling ability and early-age strength in full-scale mock-ups.</a:t>
            </a:r>
          </a:p>
        </p:txBody>
      </p:sp>
      <p:sp>
        <p:nvSpPr>
          <p:cNvPr id="7" name="Rounded Rectangle 6"/>
          <p:cNvSpPr/>
          <p:nvPr/>
        </p:nvSpPr>
        <p:spPr>
          <a:xfrm>
            <a:off x="4407408" y="1874519"/>
            <a:ext cx="3383280" cy="2532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54296" y="2121408"/>
            <a:ext cx="2907792" cy="292608"/>
          </a:xfrm>
          <a:prstGeom prst="rect">
            <a:avLst/>
          </a:prstGeom>
          <a:noFill/>
        </p:spPr>
        <p:txBody>
          <a:bodyPr wrap="square" lIns="0" tIns="13716" rIns="0" bIns="13716" anchor="ctr">
            <a:spAutoFit/>
          </a:bodyPr>
          <a:lstStyle/>
          <a:p>
            <a:pPr algn="l">
              <a:spcBef>
                <a:spcPts val="0"/>
              </a:spcBef>
              <a:spcAft>
                <a:spcPts val="0"/>
              </a:spcAft>
            </a:pPr>
            <a:r>
              <a:rPr sz="1300" b="1">
                <a:solidFill>
                  <a:srgbClr val="C2410C"/>
                </a:solidFill>
                <a:latin typeface="IBM Plex Sans"/>
              </a:rPr>
              <a:t>02  THERMAL &amp; DURABILITY</a:t>
            </a:r>
          </a:p>
        </p:txBody>
      </p:sp>
      <p:sp>
        <p:nvSpPr>
          <p:cNvPr id="9" name="TextBox 8"/>
          <p:cNvSpPr txBox="1"/>
          <p:nvPr/>
        </p:nvSpPr>
        <p:spPr>
          <a:xfrm>
            <a:off x="4654296" y="2542032"/>
            <a:ext cx="2898648" cy="658368"/>
          </a:xfrm>
          <a:prstGeom prst="rect">
            <a:avLst/>
          </a:prstGeom>
          <a:noFill/>
        </p:spPr>
        <p:txBody>
          <a:bodyPr wrap="square" lIns="0" tIns="13716" rIns="0" bIns="13716" anchor="ctr">
            <a:spAutoFit/>
          </a:bodyPr>
          <a:lstStyle/>
          <a:p>
            <a:pPr algn="l">
              <a:spcBef>
                <a:spcPts val="0"/>
              </a:spcBef>
              <a:spcAft>
                <a:spcPts val="0"/>
              </a:spcAft>
            </a:pPr>
            <a:r>
              <a:rPr sz="1900" b="1">
                <a:solidFill>
                  <a:srgbClr val="14213D"/>
                </a:solidFill>
                <a:latin typeface="Space Grotesk"/>
              </a:rPr>
              <a:t>Performs in large pours and harsh conditions</a:t>
            </a:r>
          </a:p>
        </p:txBody>
      </p:sp>
      <p:sp>
        <p:nvSpPr>
          <p:cNvPr id="10" name="TextBox 9"/>
          <p:cNvSpPr txBox="1"/>
          <p:nvPr/>
        </p:nvSpPr>
        <p:spPr>
          <a:xfrm>
            <a:off x="4654296" y="3364992"/>
            <a:ext cx="2898648" cy="758952"/>
          </a:xfrm>
          <a:prstGeom prst="rect">
            <a:avLst/>
          </a:prstGeom>
          <a:noFill/>
        </p:spPr>
        <p:txBody>
          <a:bodyPr wrap="square" lIns="0" tIns="13716" rIns="0" bIns="13716" anchor="t">
            <a:spAutoFit/>
          </a:bodyPr>
          <a:lstStyle/>
          <a:p>
            <a:pPr algn="l">
              <a:spcBef>
                <a:spcPts val="0"/>
              </a:spcBef>
              <a:spcAft>
                <a:spcPts val="0"/>
              </a:spcAft>
            </a:pPr>
            <a:r>
              <a:rPr sz="1310" b="0">
                <a:solidFill>
                  <a:srgbClr val="3D4A63"/>
                </a:solidFill>
                <a:latin typeface="IBM Plex Sans"/>
              </a:rPr>
              <a:t>Test heat of hydration, shrinkage, cracking, permeability, freeze–thaw and long-term durability.</a:t>
            </a:r>
          </a:p>
        </p:txBody>
      </p:sp>
      <p:sp>
        <p:nvSpPr>
          <p:cNvPr id="11" name="Rounded Rectangle 10"/>
          <p:cNvSpPr/>
          <p:nvPr/>
        </p:nvSpPr>
        <p:spPr>
          <a:xfrm>
            <a:off x="7991856" y="1874519"/>
            <a:ext cx="3383280" cy="2532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38744" y="2121408"/>
            <a:ext cx="2907792" cy="292608"/>
          </a:xfrm>
          <a:prstGeom prst="rect">
            <a:avLst/>
          </a:prstGeom>
          <a:noFill/>
        </p:spPr>
        <p:txBody>
          <a:bodyPr wrap="square" lIns="0" tIns="13716" rIns="0" bIns="13716" anchor="ctr">
            <a:spAutoFit/>
          </a:bodyPr>
          <a:lstStyle/>
          <a:p>
            <a:pPr algn="l">
              <a:spcBef>
                <a:spcPts val="0"/>
              </a:spcBef>
              <a:spcAft>
                <a:spcPts val="0"/>
              </a:spcAft>
            </a:pPr>
            <a:r>
              <a:rPr sz="1300" b="1">
                <a:solidFill>
                  <a:srgbClr val="C2410C"/>
                </a:solidFill>
                <a:latin typeface="IBM Plex Sans"/>
              </a:rPr>
              <a:t>03  NUCLEAR QUALIFICATION</a:t>
            </a:r>
          </a:p>
        </p:txBody>
      </p:sp>
      <p:sp>
        <p:nvSpPr>
          <p:cNvPr id="13" name="TextBox 12"/>
          <p:cNvSpPr txBox="1"/>
          <p:nvPr/>
        </p:nvSpPr>
        <p:spPr>
          <a:xfrm>
            <a:off x="8238744" y="2542032"/>
            <a:ext cx="2898648" cy="658368"/>
          </a:xfrm>
          <a:prstGeom prst="rect">
            <a:avLst/>
          </a:prstGeom>
          <a:noFill/>
        </p:spPr>
        <p:txBody>
          <a:bodyPr wrap="square" lIns="0" tIns="13716" rIns="0" bIns="13716" anchor="ctr">
            <a:spAutoFit/>
          </a:bodyPr>
          <a:lstStyle/>
          <a:p>
            <a:pPr algn="l">
              <a:spcBef>
                <a:spcPts val="0"/>
              </a:spcBef>
              <a:spcAft>
                <a:spcPts val="0"/>
              </a:spcAft>
            </a:pPr>
            <a:r>
              <a:rPr sz="1900" b="1">
                <a:solidFill>
                  <a:srgbClr val="14213D"/>
                </a:solidFill>
                <a:latin typeface="Space Grotesk"/>
              </a:rPr>
              <a:t>Meets required codes without delaying build</a:t>
            </a:r>
          </a:p>
        </p:txBody>
      </p:sp>
      <p:sp>
        <p:nvSpPr>
          <p:cNvPr id="14" name="TextBox 13"/>
          <p:cNvSpPr txBox="1"/>
          <p:nvPr/>
        </p:nvSpPr>
        <p:spPr>
          <a:xfrm>
            <a:off x="8238744" y="3364992"/>
            <a:ext cx="2898648" cy="758952"/>
          </a:xfrm>
          <a:prstGeom prst="rect">
            <a:avLst/>
          </a:prstGeom>
          <a:noFill/>
        </p:spPr>
        <p:txBody>
          <a:bodyPr wrap="square" lIns="0" tIns="13716" rIns="0" bIns="13716" anchor="t">
            <a:spAutoFit/>
          </a:bodyPr>
          <a:lstStyle/>
          <a:p>
            <a:pPr algn="l">
              <a:spcBef>
                <a:spcPts val="0"/>
              </a:spcBef>
              <a:spcAft>
                <a:spcPts val="0"/>
              </a:spcAft>
            </a:pPr>
            <a:r>
              <a:rPr sz="1310" b="0">
                <a:solidFill>
                  <a:srgbClr val="3D4A63"/>
                </a:solidFill>
                <a:latin typeface="IBM Plex Sans"/>
              </a:rPr>
              <a:t>Confirm safety classification, material rules, QA/QC and regulator-approved design changes before use.</a:t>
            </a:r>
          </a:p>
        </p:txBody>
      </p:sp>
      <p:sp>
        <p:nvSpPr>
          <p:cNvPr id="15" name="TextBox 14"/>
          <p:cNvSpPr txBox="1"/>
          <p:nvPr/>
        </p:nvSpPr>
        <p:spPr>
          <a:xfrm>
            <a:off x="813816" y="4709160"/>
            <a:ext cx="8046720" cy="292608"/>
          </a:xfrm>
          <a:prstGeom prst="rect">
            <a:avLst/>
          </a:prstGeom>
          <a:noFill/>
        </p:spPr>
        <p:txBody>
          <a:bodyPr wrap="square" lIns="0" tIns="13716" rIns="0" bIns="13716" anchor="ctr">
            <a:spAutoFit/>
          </a:bodyPr>
          <a:lstStyle/>
          <a:p>
            <a:pPr algn="l">
              <a:spcBef>
                <a:spcPts val="0"/>
              </a:spcBef>
              <a:spcAft>
                <a:spcPts val="0"/>
              </a:spcAft>
            </a:pPr>
            <a:r>
              <a:rPr sz="1400" b="1">
                <a:solidFill>
                  <a:srgbClr val="14213D"/>
                </a:solidFill>
                <a:latin typeface="IBM Plex Sans"/>
              </a:rPr>
              <a:t>CO₂ sensitivity to eligible volume (Pillai: 110 kg CO₂-eq/m³ saving)</a:t>
            </a:r>
          </a:p>
        </p:txBody>
      </p:sp>
      <p:sp>
        <p:nvSpPr>
          <p:cNvPr id="16" name="Rounded Rectangle 15"/>
          <p:cNvSpPr/>
          <p:nvPr/>
        </p:nvSpPr>
        <p:spPr>
          <a:xfrm>
            <a:off x="813816" y="5138928"/>
            <a:ext cx="3255264" cy="530352"/>
          </a:xfrm>
          <a:prstGeom prst="roundRect">
            <a:avLst>
              <a:gd name="adj" fmla="val 8000"/>
            </a:avLst>
          </a:prstGeom>
          <a:solidFill>
            <a:srgbClr val="E8E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5212080"/>
            <a:ext cx="2944368" cy="365760"/>
          </a:xfrm>
          <a:prstGeom prst="rect">
            <a:avLst/>
          </a:prstGeom>
          <a:noFill/>
        </p:spPr>
        <p:txBody>
          <a:bodyPr wrap="square" lIns="0" tIns="13716" rIns="0" bIns="13716" anchor="ctr">
            <a:spAutoFit/>
          </a:bodyPr>
          <a:lstStyle/>
          <a:p>
            <a:pPr algn="ctr">
              <a:spcBef>
                <a:spcPts val="0"/>
              </a:spcBef>
              <a:spcAft>
                <a:spcPts val="0"/>
              </a:spcAft>
            </a:pPr>
            <a:r>
              <a:rPr sz="1600" b="1">
                <a:solidFill>
                  <a:srgbClr val="1F5FA8"/>
                </a:solidFill>
                <a:latin typeface="Space Grotesk"/>
              </a:rPr>
              <a:t>20% eligible  →  1,100 t</a:t>
            </a:r>
          </a:p>
        </p:txBody>
      </p:sp>
      <p:sp>
        <p:nvSpPr>
          <p:cNvPr id="18" name="Rounded Rectangle 17"/>
          <p:cNvSpPr/>
          <p:nvPr/>
        </p:nvSpPr>
        <p:spPr>
          <a:xfrm>
            <a:off x="4352544" y="5138928"/>
            <a:ext cx="3255264" cy="530352"/>
          </a:xfrm>
          <a:prstGeom prst="roundRect">
            <a:avLst>
              <a:gd name="adj" fmla="val 8000"/>
            </a:avLst>
          </a:prstGeom>
          <a:solidFill>
            <a:srgbClr val="E8E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5212080"/>
            <a:ext cx="2926080" cy="365760"/>
          </a:xfrm>
          <a:prstGeom prst="rect">
            <a:avLst/>
          </a:prstGeom>
          <a:noFill/>
        </p:spPr>
        <p:txBody>
          <a:bodyPr wrap="square" lIns="0" tIns="13716" rIns="0" bIns="13716" anchor="ctr">
            <a:spAutoFit/>
          </a:bodyPr>
          <a:lstStyle/>
          <a:p>
            <a:pPr algn="ctr">
              <a:spcBef>
                <a:spcPts val="0"/>
              </a:spcBef>
              <a:spcAft>
                <a:spcPts val="0"/>
              </a:spcAft>
            </a:pPr>
            <a:r>
              <a:rPr sz="1600" b="1">
                <a:solidFill>
                  <a:srgbClr val="1F5FA8"/>
                </a:solidFill>
                <a:latin typeface="Space Grotesk"/>
              </a:rPr>
              <a:t>40% eligible  →  2,200 t</a:t>
            </a:r>
          </a:p>
        </p:txBody>
      </p:sp>
      <p:sp>
        <p:nvSpPr>
          <p:cNvPr id="20" name="Rounded Rectangle 19"/>
          <p:cNvSpPr/>
          <p:nvPr/>
        </p:nvSpPr>
        <p:spPr>
          <a:xfrm>
            <a:off x="7882127" y="5138928"/>
            <a:ext cx="3483864" cy="530352"/>
          </a:xfrm>
          <a:prstGeom prst="roundRect">
            <a:avLst>
              <a:gd name="adj" fmla="val 8000"/>
            </a:avLst>
          </a:prstGeom>
          <a:solidFill>
            <a:srgbClr val="E8E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37575" y="5212080"/>
            <a:ext cx="3172968" cy="365760"/>
          </a:xfrm>
          <a:prstGeom prst="rect">
            <a:avLst/>
          </a:prstGeom>
          <a:noFill/>
        </p:spPr>
        <p:txBody>
          <a:bodyPr wrap="square" lIns="0" tIns="13716" rIns="0" bIns="13716" anchor="ctr">
            <a:spAutoFit/>
          </a:bodyPr>
          <a:lstStyle/>
          <a:p>
            <a:pPr algn="ctr">
              <a:spcBef>
                <a:spcPts val="0"/>
              </a:spcBef>
              <a:spcAft>
                <a:spcPts val="0"/>
              </a:spcAft>
            </a:pPr>
            <a:r>
              <a:rPr sz="1600" b="1">
                <a:solidFill>
                  <a:srgbClr val="1F5FA8"/>
                </a:solidFill>
                <a:latin typeface="Space Grotesk"/>
              </a:rPr>
              <a:t>60% eligible  →  3,300 t</a:t>
            </a:r>
          </a:p>
        </p:txBody>
      </p:sp>
      <p:sp>
        <p:nvSpPr>
          <p:cNvPr id="22" name="TextBox 21"/>
          <p:cNvSpPr txBox="1"/>
          <p:nvPr/>
        </p:nvSpPr>
        <p:spPr>
          <a:xfrm>
            <a:off x="813816" y="6236208"/>
            <a:ext cx="10881360" cy="166199"/>
          </a:xfrm>
          <a:prstGeom prst="rect">
            <a:avLst/>
          </a:prstGeom>
          <a:noFill/>
        </p:spPr>
        <p:txBody>
          <a:bodyPr wrap="square" lIns="0" tIns="13716" rIns="0" bIns="13716" anchor="t">
            <a:spAutoFit/>
          </a:bodyPr>
          <a:lstStyle/>
          <a:p>
            <a:pPr algn="l">
              <a:spcBef>
                <a:spcPts val="0"/>
              </a:spcBef>
              <a:spcAft>
                <a:spcPts val="0"/>
              </a:spcAft>
            </a:pPr>
            <a:r>
              <a:rPr sz="900" b="0" dirty="0">
                <a:solidFill>
                  <a:srgbClr val="6B7487"/>
                </a:solidFill>
                <a:latin typeface="IBM Plex Sans"/>
              </a:rPr>
              <a:t>Qualification: CSA N287.2; emissions intensity: Pillai et al. (2019), Table 2. Eligible share remains hypothetical.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28700"/>
          </a:xfrm>
          <a:prstGeom prst="rect">
            <a:avLst/>
          </a:prstGeom>
          <a:noFill/>
          <a:ln/>
        </p:spPr>
        <p:txBody>
          <a:bodyPr wrap="square" lIns="0" tIns="0" rIns="0" bIns="0" rtlCol="0" anchor="t">
            <a:normAutofit/>
          </a:bodyPr>
          <a:lstStyle/>
          <a:p>
            <a:pPr marL="0" indent="0" algn="l">
              <a:lnSpc>
                <a:spcPts val="3960"/>
              </a:lnSpc>
              <a:buNone/>
            </a:pPr>
            <a:r>
              <a:rPr lang="en-US" sz="3400" b="1" i="0" dirty="0">
                <a:solidFill>
                  <a:srgbClr val="14213D"/>
                </a:solidFill>
                <a:latin typeface="Space Grotesk" pitchFamily="34" charset="0"/>
                <a:ea typeface="Space Grotesk" pitchFamily="34" charset="-122"/>
                <a:cs typeface="Space Grotesk" pitchFamily="34" charset="-120"/>
              </a:rPr>
              <a:t>Illustrative grid averages: NSW offers greater CO₂ savings</a:t>
            </a:r>
            <a:endParaRPr lang="en-US" sz="3600" dirty="0"/>
          </a:p>
        </p:txBody>
      </p:sp>
      <p:sp>
        <p:nvSpPr>
          <p:cNvPr id="3" name="Text 1"/>
          <p:cNvSpPr/>
          <p:nvPr/>
        </p:nvSpPr>
        <p:spPr>
          <a:xfrm>
            <a:off x="812800" y="2171700"/>
            <a:ext cx="10883392" cy="27305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3D4A63"/>
                </a:solidFill>
                <a:latin typeface="IBM Plex Sans" pitchFamily="34" charset="0"/>
                <a:ea typeface="IBM Plex Sans" pitchFamily="34" charset="-122"/>
                <a:cs typeface="IBM Plex Sans" pitchFamily="34" charset="-120"/>
              </a:rPr>
              <a:t>One 300 MWe SMR at 90% capacity factor, compared with each grid’s CURRENT average intensity</a:t>
            </a:r>
            <a:endParaRPr lang="en-US" sz="1400" dirty="0"/>
          </a:p>
        </p:txBody>
      </p:sp>
      <p:sp>
        <p:nvSpPr>
          <p:cNvPr id="4" name="Text 2"/>
          <p:cNvSpPr/>
          <p:nvPr/>
        </p:nvSpPr>
        <p:spPr>
          <a:xfrm>
            <a:off x="812800" y="2863850"/>
            <a:ext cx="2485390"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NSW grid (640 g/kWh)</a:t>
            </a:r>
            <a:endParaRPr lang="en-US" sz="1600" dirty="0"/>
          </a:p>
        </p:txBody>
      </p:sp>
      <p:sp>
        <p:nvSpPr>
          <p:cNvPr id="5" name="Shape 3"/>
          <p:cNvSpPr/>
          <p:nvPr/>
        </p:nvSpPr>
        <p:spPr>
          <a:xfrm>
            <a:off x="3429000" y="2774950"/>
            <a:ext cx="6667500" cy="457200"/>
          </a:xfrm>
          <a:prstGeom prst="roundRect">
            <a:avLst>
              <a:gd name="adj" fmla="val 11111"/>
            </a:avLst>
          </a:prstGeom>
          <a:solidFill>
            <a:srgbClr val="C2410C"/>
          </a:solidFill>
          <a:ln/>
        </p:spPr>
        <p:txBody>
          <a:bodyPr/>
          <a:lstStyle/>
          <a:p>
            <a:endParaRPr lang="en-AU"/>
          </a:p>
        </p:txBody>
      </p:sp>
      <p:sp>
        <p:nvSpPr>
          <p:cNvPr id="6" name="Text 4"/>
          <p:cNvSpPr/>
          <p:nvPr/>
        </p:nvSpPr>
        <p:spPr>
          <a:xfrm>
            <a:off x="10299700" y="2809875"/>
            <a:ext cx="986433"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1.5 Mt</a:t>
            </a:r>
            <a:endParaRPr lang="en-US" sz="2200" dirty="0"/>
          </a:p>
        </p:txBody>
      </p:sp>
      <p:sp>
        <p:nvSpPr>
          <p:cNvPr id="7" name="Text 5"/>
          <p:cNvSpPr/>
          <p:nvPr/>
        </p:nvSpPr>
        <p:spPr>
          <a:xfrm>
            <a:off x="812800" y="3486150"/>
            <a:ext cx="2485390" cy="5842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Ontario grid (35–74 g/kWh)</a:t>
            </a:r>
            <a:endParaRPr lang="en-US" sz="1600" dirty="0"/>
          </a:p>
        </p:txBody>
      </p:sp>
      <p:sp>
        <p:nvSpPr>
          <p:cNvPr id="8" name="Shape 6"/>
          <p:cNvSpPr/>
          <p:nvPr/>
        </p:nvSpPr>
        <p:spPr>
          <a:xfrm>
            <a:off x="3429000" y="3536950"/>
            <a:ext cx="711200" cy="457200"/>
          </a:xfrm>
          <a:prstGeom prst="roundRect">
            <a:avLst>
              <a:gd name="adj" fmla="val 11111"/>
            </a:avLst>
          </a:prstGeom>
          <a:solidFill>
            <a:srgbClr val="1F5FA8"/>
          </a:solidFill>
          <a:ln/>
        </p:spPr>
        <p:txBody>
          <a:bodyPr/>
          <a:lstStyle/>
          <a:p>
            <a:endParaRPr lang="en-AU"/>
          </a:p>
        </p:txBody>
      </p:sp>
      <p:sp>
        <p:nvSpPr>
          <p:cNvPr id="9" name="Text 7"/>
          <p:cNvSpPr/>
          <p:nvPr/>
        </p:nvSpPr>
        <p:spPr>
          <a:xfrm>
            <a:off x="4343400" y="3571875"/>
            <a:ext cx="2075498"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5FA8"/>
                </a:solidFill>
                <a:latin typeface="Space Grotesk" pitchFamily="34" charset="0"/>
                <a:ea typeface="Space Grotesk" pitchFamily="34" charset="-122"/>
                <a:cs typeface="Space Grotesk" pitchFamily="34" charset="-120"/>
              </a:rPr>
              <a:t>0.07–0.16 Mt</a:t>
            </a:r>
            <a:endParaRPr lang="en-US" sz="2200" dirty="0"/>
          </a:p>
        </p:txBody>
      </p:sp>
      <p:sp>
        <p:nvSpPr>
          <p:cNvPr id="10" name="Text 8"/>
          <p:cNvSpPr/>
          <p:nvPr/>
        </p:nvSpPr>
        <p:spPr>
          <a:xfrm>
            <a:off x="812800" y="4400550"/>
            <a:ext cx="9810750" cy="584200"/>
          </a:xfrm>
          <a:prstGeom prst="rect">
            <a:avLst/>
          </a:prstGeom>
          <a:noFill/>
          <a:ln/>
        </p:spPr>
        <p:txBody>
          <a:bodyPr wrap="square" lIns="0" tIns="0" rIns="0" bIns="0" rtlCol="0" anchor="t">
            <a:normAutofit/>
          </a:bodyPr>
          <a:lstStyle/>
          <a:p>
            <a:pPr marL="0" indent="0" algn="l">
              <a:lnSpc>
                <a:spcPts val="2240"/>
              </a:lnSpc>
              <a:buNone/>
            </a:pPr>
            <a:r>
              <a:rPr lang="en-US" sz="1500" b="1" dirty="0">
                <a:solidFill>
                  <a:srgbClr val="3D4A63"/>
                </a:solidFill>
                <a:latin typeface="IBM Plex Sans" pitchFamily="34" charset="0"/>
                <a:ea typeface="IBM Plex Sans" pitchFamily="34" charset="-122"/>
                <a:cs typeface="IBM Plex Sans" pitchFamily="34" charset="-120"/>
              </a:rPr>
              <a:t>This is not a forecast: what the reactor actually displaces, commissioning date and future grid mix matter most.</a:t>
            </a:r>
            <a:endParaRPr lang="en-US" sz="1600" dirty="0"/>
          </a:p>
        </p:txBody>
      </p:sp>
      <p:sp>
        <p:nvSpPr>
          <p:cNvPr id="11" name="Text 9"/>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Our calculation; grid factors: DCCEEW (2025), CER (n.d.), TAF (2025); nuclear 6 g/kWh: UNECE (2021). 90% capacity factor; average grid factors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C2410C"/>
                </a:solidFill>
                <a:latin typeface="IBM Plex Sans" pitchFamily="34" charset="0"/>
                <a:ea typeface="IBM Plex Sans" pitchFamily="34" charset="-122"/>
                <a:cs typeface="IBM Plex Sans" pitchFamily="34" charset="-120"/>
              </a:rPr>
              <a:t>BARRIER 1 · LAW</a:t>
            </a:r>
            <a:endParaRPr lang="en-US" sz="1600" dirty="0"/>
          </a:p>
        </p:txBody>
      </p:sp>
      <p:sp>
        <p:nvSpPr>
          <p:cNvPr id="3" name="Text 1"/>
          <p:cNvSpPr>
            <a:spLocks noGrp="1"/>
          </p:cNvSpPr>
          <p:nvPr>
            <p:ph type="title"/>
          </p:nvPr>
        </p:nvSpPr>
        <p:spPr>
          <a:xfrm>
            <a:off x="812800" y="144780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Nuclear power is banned in Australia today</a:t>
            </a:r>
            <a:endParaRPr lang="en-US" sz="3600" dirty="0"/>
          </a:p>
        </p:txBody>
      </p:sp>
      <p:sp>
        <p:nvSpPr>
          <p:cNvPr id="4" name="Shape 2"/>
          <p:cNvSpPr/>
          <p:nvPr/>
        </p:nvSpPr>
        <p:spPr>
          <a:xfrm>
            <a:off x="815975" y="2308225"/>
            <a:ext cx="3414216" cy="1384300"/>
          </a:xfrm>
          <a:prstGeom prst="roundRect">
            <a:avLst>
              <a:gd name="adj" fmla="val 7110"/>
            </a:avLst>
          </a:prstGeom>
          <a:solidFill>
            <a:srgbClr val="FFFDF8"/>
          </a:solidFill>
          <a:ln w="6350">
            <a:solidFill>
              <a:srgbClr val="DDD8CC"/>
            </a:solidFill>
            <a:prstDash val="solid"/>
          </a:ln>
        </p:spPr>
        <p:txBody>
          <a:bodyPr/>
          <a:lstStyle/>
          <a:p>
            <a:endParaRPr lang="en-AU"/>
          </a:p>
        </p:txBody>
      </p:sp>
      <p:sp>
        <p:nvSpPr>
          <p:cNvPr id="5" name="Text 3"/>
          <p:cNvSpPr/>
          <p:nvPr/>
        </p:nvSpPr>
        <p:spPr>
          <a:xfrm>
            <a:off x="1073150" y="2565400"/>
            <a:ext cx="2986862"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EPBC Act 1999, s140A</a:t>
            </a:r>
            <a:endParaRPr lang="en-US" sz="1800" dirty="0"/>
          </a:p>
        </p:txBody>
      </p:sp>
      <p:sp>
        <p:nvSpPr>
          <p:cNvPr id="6" name="Text 4"/>
          <p:cNvSpPr/>
          <p:nvPr/>
        </p:nvSpPr>
        <p:spPr>
          <a:xfrm>
            <a:off x="1073150" y="2940050"/>
            <a:ext cx="2986862"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The Environment Minister must not approve a nuclear power plant</a:t>
            </a:r>
            <a:endParaRPr lang="en-US" sz="1400" dirty="0"/>
          </a:p>
        </p:txBody>
      </p:sp>
      <p:sp>
        <p:nvSpPr>
          <p:cNvPr id="7" name="Shape 5"/>
          <p:cNvSpPr/>
          <p:nvPr/>
        </p:nvSpPr>
        <p:spPr>
          <a:xfrm>
            <a:off x="4388941" y="2308225"/>
            <a:ext cx="3414216" cy="1384300"/>
          </a:xfrm>
          <a:prstGeom prst="roundRect">
            <a:avLst>
              <a:gd name="adj" fmla="val 7110"/>
            </a:avLst>
          </a:prstGeom>
          <a:solidFill>
            <a:srgbClr val="FFFDF8"/>
          </a:solidFill>
          <a:ln w="6350">
            <a:solidFill>
              <a:srgbClr val="DDD8CC"/>
            </a:solidFill>
            <a:prstDash val="solid"/>
          </a:ln>
        </p:spPr>
        <p:txBody>
          <a:bodyPr/>
          <a:lstStyle/>
          <a:p>
            <a:endParaRPr lang="en-AU"/>
          </a:p>
        </p:txBody>
      </p:sp>
      <p:sp>
        <p:nvSpPr>
          <p:cNvPr id="8" name="Text 6"/>
          <p:cNvSpPr/>
          <p:nvPr/>
        </p:nvSpPr>
        <p:spPr>
          <a:xfrm>
            <a:off x="4646116" y="2565400"/>
            <a:ext cx="2986862"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ARPANS Act 1998, s10</a:t>
            </a:r>
            <a:endParaRPr lang="en-US" sz="1800" dirty="0"/>
          </a:p>
        </p:txBody>
      </p:sp>
      <p:sp>
        <p:nvSpPr>
          <p:cNvPr id="9" name="Text 7"/>
          <p:cNvSpPr/>
          <p:nvPr/>
        </p:nvSpPr>
        <p:spPr>
          <a:xfrm>
            <a:off x="4646116" y="2940050"/>
            <a:ext cx="2986862"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The national radiation regulator must not license one</a:t>
            </a:r>
            <a:endParaRPr lang="en-US" sz="1400" dirty="0"/>
          </a:p>
        </p:txBody>
      </p:sp>
      <p:sp>
        <p:nvSpPr>
          <p:cNvPr id="10" name="Shape 8"/>
          <p:cNvSpPr/>
          <p:nvPr/>
        </p:nvSpPr>
        <p:spPr>
          <a:xfrm>
            <a:off x="7961908" y="2308225"/>
            <a:ext cx="3414216" cy="1384300"/>
          </a:xfrm>
          <a:prstGeom prst="roundRect">
            <a:avLst>
              <a:gd name="adj" fmla="val 7110"/>
            </a:avLst>
          </a:prstGeom>
          <a:solidFill>
            <a:srgbClr val="FFFDF8"/>
          </a:solidFill>
          <a:ln w="6350">
            <a:solidFill>
              <a:srgbClr val="DDD8CC"/>
            </a:solidFill>
            <a:prstDash val="solid"/>
          </a:ln>
        </p:spPr>
        <p:txBody>
          <a:bodyPr/>
          <a:lstStyle/>
          <a:p>
            <a:endParaRPr lang="en-AU"/>
          </a:p>
        </p:txBody>
      </p:sp>
      <p:sp>
        <p:nvSpPr>
          <p:cNvPr id="11" name="Text 9"/>
          <p:cNvSpPr/>
          <p:nvPr/>
        </p:nvSpPr>
        <p:spPr>
          <a:xfrm>
            <a:off x="8219083" y="2565400"/>
            <a:ext cx="2986862"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NSW Act 1986, s8</a:t>
            </a:r>
            <a:endParaRPr lang="en-US" sz="1800" dirty="0"/>
          </a:p>
        </p:txBody>
      </p:sp>
      <p:sp>
        <p:nvSpPr>
          <p:cNvPr id="12" name="Text 10"/>
          <p:cNvSpPr/>
          <p:nvPr/>
        </p:nvSpPr>
        <p:spPr>
          <a:xfrm>
            <a:off x="8219083" y="2940050"/>
            <a:ext cx="2986862"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Bans nuclear power reactors in NSW, including at Liddell</a:t>
            </a:r>
            <a:endParaRPr lang="en-US" sz="1400" dirty="0"/>
          </a:p>
        </p:txBody>
      </p:sp>
      <p:sp>
        <p:nvSpPr>
          <p:cNvPr id="13" name="Text 11"/>
          <p:cNvSpPr/>
          <p:nvPr/>
        </p:nvSpPr>
        <p:spPr>
          <a:xfrm>
            <a:off x="812800" y="4051300"/>
            <a:ext cx="10137775" cy="5842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4A63"/>
                </a:solidFill>
                <a:latin typeface="IBM Plex Sans" pitchFamily="34" charset="0"/>
                <a:ea typeface="IBM Plex Sans" pitchFamily="34" charset="-122"/>
                <a:cs typeface="IBM Plex Sans" pitchFamily="34" charset="-120"/>
              </a:rPr>
              <a:t>What would have to change:</a:t>
            </a:r>
            <a:r>
              <a:rPr lang="en-US" sz="1600" dirty="0">
                <a:solidFill>
                  <a:srgbClr val="3D4A63"/>
                </a:solidFill>
                <a:latin typeface="IBM Plex Sans" pitchFamily="34" charset="0"/>
                <a:ea typeface="IBM Plex Sans" pitchFamily="34" charset="-122"/>
                <a:cs typeface="IBM Plex Sans" pitchFamily="34" charset="-120"/>
              </a:rPr>
              <a:t> federal and NSW repeal, and a regulator able to license private operators. Canada’s construction licence alone took 29 months.</a:t>
            </a:r>
            <a:endParaRPr lang="en-US" sz="1600" dirty="0"/>
          </a:p>
        </p:txBody>
      </p:sp>
      <p:sp>
        <p:nvSpPr>
          <p:cNvPr id="14" name="Text 12"/>
          <p:cNvSpPr/>
          <p:nvPr/>
        </p:nvSpPr>
        <p:spPr>
          <a:xfrm>
            <a:off x="812800" y="6032500"/>
            <a:ext cx="10883392" cy="44450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Environment Protection and Biodiversity Conservation Act 1999 (Cth); Australian Radiation Protection and Nuclear Safety Act 1998 (Cth); Uranium Mining and Nuclear Facilities (Prohibitions) Act 1986 (NSW); CNSC (2025)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2617"/>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C2410C"/>
                </a:solidFill>
                <a:latin typeface="IBM Plex Sans" pitchFamily="34" charset="0"/>
                <a:ea typeface="IBM Plex Sans" pitchFamily="34" charset="-122"/>
                <a:cs typeface="IBM Plex Sans" pitchFamily="34" charset="-120"/>
              </a:rPr>
              <a:t>BARRIER 2 · COST</a:t>
            </a:r>
            <a:endParaRPr lang="en-US" sz="1600" dirty="0"/>
          </a:p>
        </p:txBody>
      </p:sp>
      <p:sp>
        <p:nvSpPr>
          <p:cNvPr id="3" name="Text 1"/>
          <p:cNvSpPr>
            <a:spLocks noGrp="1"/>
          </p:cNvSpPr>
          <p:nvPr>
            <p:ph type="title"/>
          </p:nvPr>
        </p:nvSpPr>
        <p:spPr>
          <a:xfrm>
            <a:off x="812800" y="1445617"/>
            <a:ext cx="10883392" cy="1020763"/>
          </a:xfrm>
          <a:prstGeom prst="rect">
            <a:avLst/>
          </a:prstGeom>
          <a:noFill/>
          <a:ln/>
        </p:spPr>
        <p:txBody>
          <a:bodyPr wrap="square" lIns="0" tIns="0" rIns="0" bIns="0" rtlCol="0" anchor="t">
            <a:normAutofit/>
          </a:bodyPr>
          <a:lstStyle/>
          <a:p>
            <a:pPr marL="0" indent="0" algn="l">
              <a:lnSpc>
                <a:spcPts val="3948"/>
              </a:lnSpc>
              <a:buNone/>
            </a:pPr>
            <a:r>
              <a:rPr lang="en-US" sz="3589" b="1" i="0" dirty="0">
                <a:solidFill>
                  <a:srgbClr val="14213D"/>
                </a:solidFill>
                <a:latin typeface="Space Grotesk" pitchFamily="34" charset="0"/>
                <a:ea typeface="Space Grotesk" pitchFamily="34" charset="-122"/>
                <a:cs typeface="Space Grotesk" pitchFamily="34" charset="-120"/>
              </a:rPr>
              <a:t>SMRs are the most expensive new power in Australia</a:t>
            </a:r>
            <a:endParaRPr lang="en-US" sz="3589" dirty="0"/>
          </a:p>
        </p:txBody>
      </p:sp>
      <p:sp>
        <p:nvSpPr>
          <p:cNvPr id="4" name="Shape 2"/>
          <p:cNvSpPr/>
          <p:nvPr/>
        </p:nvSpPr>
        <p:spPr>
          <a:xfrm>
            <a:off x="815975" y="2799755"/>
            <a:ext cx="5175250" cy="2129234"/>
          </a:xfrm>
          <a:prstGeom prst="roundRect">
            <a:avLst>
              <a:gd name="adj" fmla="val 4623"/>
            </a:avLst>
          </a:prstGeom>
          <a:solidFill>
            <a:srgbClr val="FFFDF8"/>
          </a:solidFill>
          <a:ln w="6350">
            <a:solidFill>
              <a:srgbClr val="DDD8CC"/>
            </a:solidFill>
            <a:prstDash val="solid"/>
          </a:ln>
        </p:spPr>
        <p:txBody>
          <a:bodyPr/>
          <a:lstStyle/>
          <a:p>
            <a:endParaRPr lang="en-AU"/>
          </a:p>
        </p:txBody>
      </p:sp>
      <p:sp>
        <p:nvSpPr>
          <p:cNvPr id="5" name="Text 3"/>
          <p:cNvSpPr/>
          <p:nvPr/>
        </p:nvSpPr>
        <p:spPr>
          <a:xfrm>
            <a:off x="1098550" y="3082330"/>
            <a:ext cx="4748403"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63"/>
                </a:solidFill>
                <a:latin typeface="IBM Plex Sans" pitchFamily="34" charset="0"/>
                <a:ea typeface="IBM Plex Sans" pitchFamily="34" charset="-122"/>
                <a:cs typeface="IBM Plex Sans" pitchFamily="34" charset="-120"/>
              </a:rPr>
              <a:t>CSIRO GenCost 2025–26</a:t>
            </a:r>
            <a:endParaRPr lang="en-US" sz="1400" dirty="0"/>
          </a:p>
        </p:txBody>
      </p:sp>
      <p:sp>
        <p:nvSpPr>
          <p:cNvPr id="6" name="Text 4"/>
          <p:cNvSpPr/>
          <p:nvPr/>
        </p:nvSpPr>
        <p:spPr>
          <a:xfrm>
            <a:off x="1098550" y="3431580"/>
            <a:ext cx="4748403" cy="41275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C2410C"/>
                </a:solidFill>
                <a:latin typeface="Space Grotesk" pitchFamily="34" charset="0"/>
                <a:ea typeface="Space Grotesk" pitchFamily="34" charset="-122"/>
                <a:cs typeface="Space Grotesk" pitchFamily="34" charset="-120"/>
              </a:rPr>
              <a:t>Highest cost</a:t>
            </a:r>
            <a:endParaRPr lang="en-US" sz="2800" dirty="0"/>
          </a:p>
        </p:txBody>
      </p:sp>
      <p:sp>
        <p:nvSpPr>
          <p:cNvPr id="7" name="Text 5"/>
          <p:cNvSpPr/>
          <p:nvPr/>
        </p:nvSpPr>
        <p:spPr>
          <a:xfrm>
            <a:off x="1098550" y="3920530"/>
            <a:ext cx="4748403"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of every option, even with Darlington’s real costs included. Firmed renewables are cheapest</a:t>
            </a:r>
            <a:endParaRPr lang="en-US" sz="1400" dirty="0"/>
          </a:p>
        </p:txBody>
      </p:sp>
      <p:sp>
        <p:nvSpPr>
          <p:cNvPr id="8" name="Shape 6"/>
          <p:cNvSpPr/>
          <p:nvPr/>
        </p:nvSpPr>
        <p:spPr>
          <a:xfrm>
            <a:off x="6200775" y="2799755"/>
            <a:ext cx="5175250" cy="2129234"/>
          </a:xfrm>
          <a:prstGeom prst="roundRect">
            <a:avLst>
              <a:gd name="adj" fmla="val 4623"/>
            </a:avLst>
          </a:prstGeom>
          <a:solidFill>
            <a:srgbClr val="FFFDF8"/>
          </a:solidFill>
          <a:ln w="6350">
            <a:solidFill>
              <a:srgbClr val="DDD8CC"/>
            </a:solidFill>
            <a:prstDash val="solid"/>
          </a:ln>
        </p:spPr>
        <p:txBody>
          <a:bodyPr/>
          <a:lstStyle/>
          <a:p>
            <a:endParaRPr lang="en-AU"/>
          </a:p>
        </p:txBody>
      </p:sp>
      <p:sp>
        <p:nvSpPr>
          <p:cNvPr id="9" name="Text 7"/>
          <p:cNvSpPr/>
          <p:nvPr/>
        </p:nvSpPr>
        <p:spPr>
          <a:xfrm>
            <a:off x="6483350" y="3082330"/>
            <a:ext cx="4748403" cy="2699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63"/>
                </a:solidFill>
                <a:latin typeface="IBM Plex Sans" pitchFamily="34" charset="0"/>
                <a:ea typeface="IBM Plex Sans" pitchFamily="34" charset="-122"/>
                <a:cs typeface="IBM Plex Sans" pitchFamily="34" charset="-120"/>
              </a:rPr>
              <a:t>NuScale, Idaho (US)</a:t>
            </a:r>
            <a:endParaRPr lang="en-US" sz="1400" dirty="0"/>
          </a:p>
        </p:txBody>
      </p:sp>
      <p:sp>
        <p:nvSpPr>
          <p:cNvPr id="10" name="Text 8"/>
          <p:cNvSpPr/>
          <p:nvPr/>
        </p:nvSpPr>
        <p:spPr>
          <a:xfrm>
            <a:off x="6483350" y="3428504"/>
            <a:ext cx="4748403" cy="407988"/>
          </a:xfrm>
          <a:prstGeom prst="rect">
            <a:avLst/>
          </a:prstGeom>
          <a:noFill/>
          <a:ln/>
        </p:spPr>
        <p:txBody>
          <a:bodyPr wrap="square" lIns="0" tIns="0" rIns="0" bIns="0" rtlCol="0" anchor="t">
            <a:normAutofit/>
          </a:bodyPr>
          <a:lstStyle/>
          <a:p>
            <a:pPr marL="0" indent="0" algn="l">
              <a:lnSpc>
                <a:spcPts val="3042"/>
              </a:lnSpc>
              <a:buNone/>
            </a:pPr>
            <a:r>
              <a:rPr lang="en-US" sz="2765" b="1" dirty="0">
                <a:solidFill>
                  <a:srgbClr val="C2410C"/>
                </a:solidFill>
                <a:latin typeface="Space Grotesk" pitchFamily="34" charset="0"/>
                <a:ea typeface="Space Grotesk" pitchFamily="34" charset="-122"/>
                <a:cs typeface="Space Grotesk" pitchFamily="34" charset="-120"/>
              </a:rPr>
              <a:t>$58 → $89/MWh</a:t>
            </a:r>
            <a:endParaRPr lang="en-US" sz="2765" dirty="0"/>
          </a:p>
        </p:txBody>
      </p:sp>
      <p:sp>
        <p:nvSpPr>
          <p:cNvPr id="11" name="Text 9"/>
          <p:cNvSpPr/>
          <p:nvPr/>
        </p:nvSpPr>
        <p:spPr>
          <a:xfrm>
            <a:off x="6483350" y="3912691"/>
            <a:ext cx="4748403" cy="759123"/>
          </a:xfrm>
          <a:prstGeom prst="rect">
            <a:avLst/>
          </a:prstGeom>
          <a:noFill/>
          <a:ln/>
        </p:spPr>
        <p:txBody>
          <a:bodyPr wrap="square" lIns="0" tIns="0" rIns="0" bIns="0" rtlCol="0" anchor="t">
            <a:normAutofit/>
          </a:bodyPr>
          <a:lstStyle/>
          <a:p>
            <a:pPr marL="0" indent="0" algn="l">
              <a:lnSpc>
                <a:spcPts val="1948"/>
              </a:lnSpc>
              <a:buNone/>
            </a:pPr>
            <a:r>
              <a:rPr lang="en-US" sz="1391" dirty="0">
                <a:solidFill>
                  <a:srgbClr val="3D4A63"/>
                </a:solidFill>
                <a:latin typeface="IBM Plex Sans" pitchFamily="34" charset="0"/>
                <a:ea typeface="IBM Plex Sans" pitchFamily="34" charset="-122"/>
                <a:cs typeface="IBM Plex Sans" pitchFamily="34" charset="-120"/>
              </a:rPr>
              <a:t>Up 53% (2020 to 2022 dollars), even after about $30/MWh of subsidies. The 462 MW project was cancelled in 2023</a:t>
            </a:r>
            <a:endParaRPr lang="en-US" sz="1391" dirty="0"/>
          </a:p>
        </p:txBody>
      </p:sp>
      <p:sp>
        <p:nvSpPr>
          <p:cNvPr id="12" name="Text 10"/>
          <p:cNvSpPr/>
          <p:nvPr/>
        </p:nvSpPr>
        <p:spPr>
          <a:xfrm>
            <a:off x="812800" y="5287764"/>
            <a:ext cx="10137775" cy="579735"/>
          </a:xfrm>
          <a:prstGeom prst="rect">
            <a:avLst/>
          </a:prstGeom>
          <a:noFill/>
          <a:ln/>
        </p:spPr>
        <p:txBody>
          <a:bodyPr wrap="square" lIns="0" tIns="0" rIns="0" bIns="0" rtlCol="0" anchor="t">
            <a:normAutofit/>
          </a:bodyPr>
          <a:lstStyle/>
          <a:p>
            <a:pPr marL="0" indent="0" algn="l">
              <a:lnSpc>
                <a:spcPts val="2198"/>
              </a:lnSpc>
              <a:buNone/>
            </a:pPr>
            <a:r>
              <a:rPr lang="en-US" sz="1570" b="1" dirty="0">
                <a:solidFill>
                  <a:srgbClr val="3D4A63"/>
                </a:solidFill>
                <a:latin typeface="IBM Plex Sans" pitchFamily="34" charset="0"/>
                <a:ea typeface="IBM Plex Sans" pitchFamily="34" charset="-122"/>
                <a:cs typeface="IBM Plex Sans" pitchFamily="34" charset="-120"/>
              </a:rPr>
              <a:t>What would have to change:</a:t>
            </a:r>
            <a:r>
              <a:rPr lang="en-US" sz="1570" dirty="0">
                <a:solidFill>
                  <a:srgbClr val="3D4A63"/>
                </a:solidFill>
                <a:latin typeface="IBM Plex Sans" pitchFamily="34" charset="0"/>
                <a:ea typeface="IBM Plex Sans" pitchFamily="34" charset="-122"/>
                <a:cs typeface="IBM Plex Sans" pitchFamily="34" charset="-120"/>
              </a:rPr>
              <a:t> government underwriting of first-of-a-kind risk, as Ontario and Canada are doing for Darlington.</a:t>
            </a:r>
            <a:endParaRPr lang="en-US" sz="1570" dirty="0"/>
          </a:p>
        </p:txBody>
      </p:sp>
      <p:sp>
        <p:nvSpPr>
          <p:cNvPr id="13" name="Text 11"/>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CSIRO (2026) GenCost 2025–26; Power Engineering (2023); Canada Growth Fund and Building Ontario Fund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C2410C"/>
                </a:solidFill>
                <a:latin typeface="IBM Plex Sans" pitchFamily="34" charset="0"/>
                <a:ea typeface="IBM Plex Sans" pitchFamily="34" charset="-122"/>
                <a:cs typeface="IBM Plex Sans" pitchFamily="34" charset="-120"/>
              </a:rPr>
              <a:t>BARRIER 3 · SOCIAL LICENCE</a:t>
            </a:r>
            <a:endParaRPr lang="en-US" sz="1600" dirty="0"/>
          </a:p>
        </p:txBody>
      </p:sp>
      <p:sp>
        <p:nvSpPr>
          <p:cNvPr id="3" name="Text 1"/>
          <p:cNvSpPr>
            <a:spLocks noGrp="1"/>
          </p:cNvSpPr>
          <p:nvPr>
            <p:ph type="title"/>
          </p:nvPr>
        </p:nvSpPr>
        <p:spPr>
          <a:xfrm>
            <a:off x="812800" y="1447800"/>
            <a:ext cx="10883392" cy="102870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Most Australians back nuclear, but trust is fragile</a:t>
            </a:r>
            <a:endParaRPr lang="en-US" sz="3600" dirty="0"/>
          </a:p>
        </p:txBody>
      </p:sp>
      <p:sp>
        <p:nvSpPr>
          <p:cNvPr id="4" name="Shape 2"/>
          <p:cNvSpPr/>
          <p:nvPr/>
        </p:nvSpPr>
        <p:spPr>
          <a:xfrm>
            <a:off x="815975" y="2809875"/>
            <a:ext cx="5175250" cy="1924050"/>
          </a:xfrm>
          <a:prstGeom prst="roundRect">
            <a:avLst>
              <a:gd name="adj" fmla="val 5116"/>
            </a:avLst>
          </a:prstGeom>
          <a:solidFill>
            <a:srgbClr val="FFFDF8"/>
          </a:solidFill>
          <a:ln w="6350">
            <a:solidFill>
              <a:srgbClr val="DDD8CC"/>
            </a:solidFill>
            <a:prstDash val="solid"/>
          </a:ln>
        </p:spPr>
        <p:txBody>
          <a:bodyPr/>
          <a:lstStyle/>
          <a:p>
            <a:endParaRPr lang="en-AU"/>
          </a:p>
        </p:txBody>
      </p:sp>
      <p:sp>
        <p:nvSpPr>
          <p:cNvPr id="5" name="Text 3"/>
          <p:cNvSpPr/>
          <p:nvPr/>
        </p:nvSpPr>
        <p:spPr>
          <a:xfrm>
            <a:off x="1098550" y="3092450"/>
            <a:ext cx="474840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F5FA8"/>
                </a:solidFill>
                <a:latin typeface="Space Grotesk" pitchFamily="34" charset="0"/>
                <a:ea typeface="Space Grotesk" pitchFamily="34" charset="-122"/>
                <a:cs typeface="Space Grotesk" pitchFamily="34" charset="-120"/>
              </a:rPr>
              <a:t>61%</a:t>
            </a:r>
            <a:endParaRPr lang="en-US" sz="6000" dirty="0"/>
          </a:p>
        </p:txBody>
      </p:sp>
      <p:sp>
        <p:nvSpPr>
          <p:cNvPr id="6" name="Text 4"/>
          <p:cNvSpPr/>
          <p:nvPr/>
        </p:nvSpPr>
        <p:spPr>
          <a:xfrm>
            <a:off x="1098550" y="3956050"/>
            <a:ext cx="4748403"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support nuclear power for electricity; 37% oppose (Lowy Institute Poll 2024)</a:t>
            </a:r>
            <a:endParaRPr lang="en-US" sz="1400" dirty="0"/>
          </a:p>
        </p:txBody>
      </p:sp>
      <p:sp>
        <p:nvSpPr>
          <p:cNvPr id="7" name="Shape 5"/>
          <p:cNvSpPr/>
          <p:nvPr/>
        </p:nvSpPr>
        <p:spPr>
          <a:xfrm>
            <a:off x="6200775" y="2809875"/>
            <a:ext cx="5175250" cy="1924050"/>
          </a:xfrm>
          <a:prstGeom prst="roundRect">
            <a:avLst>
              <a:gd name="adj" fmla="val 5116"/>
            </a:avLst>
          </a:prstGeom>
          <a:solidFill>
            <a:srgbClr val="FFFDF8"/>
          </a:solidFill>
          <a:ln w="6350">
            <a:solidFill>
              <a:srgbClr val="DDD8CC"/>
            </a:solidFill>
            <a:prstDash val="solid"/>
          </a:ln>
        </p:spPr>
        <p:txBody>
          <a:bodyPr/>
          <a:lstStyle/>
          <a:p>
            <a:endParaRPr lang="en-AU"/>
          </a:p>
        </p:txBody>
      </p:sp>
      <p:sp>
        <p:nvSpPr>
          <p:cNvPr id="8" name="Text 6"/>
          <p:cNvSpPr/>
          <p:nvPr/>
        </p:nvSpPr>
        <p:spPr>
          <a:xfrm>
            <a:off x="6483350" y="3092450"/>
            <a:ext cx="474840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F5FA8"/>
                </a:solidFill>
                <a:latin typeface="Space Grotesk" pitchFamily="34" charset="0"/>
                <a:ea typeface="Space Grotesk" pitchFamily="34" charset="-122"/>
                <a:cs typeface="Space Grotesk" pitchFamily="34" charset="-120"/>
              </a:rPr>
              <a:t>0.03</a:t>
            </a:r>
            <a:endParaRPr lang="en-US" sz="6000" dirty="0"/>
          </a:p>
        </p:txBody>
      </p:sp>
      <p:sp>
        <p:nvSpPr>
          <p:cNvPr id="9" name="Text 7"/>
          <p:cNvSpPr/>
          <p:nvPr/>
        </p:nvSpPr>
        <p:spPr>
          <a:xfrm>
            <a:off x="6483350" y="3956050"/>
            <a:ext cx="4748403"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deaths per TWh from nuclear, against 24.6 for coal: the risk people fear is not the one that kills</a:t>
            </a:r>
            <a:endParaRPr lang="en-US" sz="1400" dirty="0"/>
          </a:p>
        </p:txBody>
      </p:sp>
      <p:sp>
        <p:nvSpPr>
          <p:cNvPr id="10" name="Text 8"/>
          <p:cNvSpPr/>
          <p:nvPr/>
        </p:nvSpPr>
        <p:spPr>
          <a:xfrm>
            <a:off x="812800" y="5092700"/>
            <a:ext cx="10137775" cy="5842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4A63"/>
                </a:solidFill>
                <a:latin typeface="IBM Plex Sans" pitchFamily="34" charset="0"/>
                <a:ea typeface="IBM Plex Sans" pitchFamily="34" charset="-122"/>
                <a:cs typeface="IBM Plex Sans" pitchFamily="34" charset="-120"/>
              </a:rPr>
              <a:t>What would have to change:</a:t>
            </a:r>
            <a:r>
              <a:rPr lang="en-US" sz="1600" dirty="0">
                <a:solidFill>
                  <a:srgbClr val="3D4A63"/>
                </a:solidFill>
                <a:latin typeface="IBM Plex Sans" pitchFamily="34" charset="0"/>
                <a:ea typeface="IBM Plex Sans" pitchFamily="34" charset="-122"/>
                <a:cs typeface="IBM Plex Sans" pitchFamily="34" charset="-120"/>
              </a:rPr>
              <a:t> host-community consent, a waste plan agreed up front, and local benefit sharing in the Hunter.</a:t>
            </a:r>
            <a:endParaRPr lang="en-US" sz="1600" dirty="0"/>
          </a:p>
        </p:txBody>
      </p:sp>
      <p:sp>
        <p:nvSpPr>
          <p:cNvPr id="11" name="Text 9"/>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Lowy Institute (2024) Lowy Institute Poll; Our World in Data (2024) Death rates per unit of electricity production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C2410C"/>
                </a:solidFill>
                <a:latin typeface="IBM Plex Sans" pitchFamily="34" charset="0"/>
                <a:ea typeface="IBM Plex Sans" pitchFamily="34" charset="-122"/>
                <a:cs typeface="IBM Plex Sans" pitchFamily="34" charset="-120"/>
              </a:rPr>
              <a:t>BARRIER 4 · FUEL SUPPLY</a:t>
            </a:r>
            <a:endParaRPr lang="en-US" sz="1600" dirty="0"/>
          </a:p>
        </p:txBody>
      </p:sp>
      <p:sp>
        <p:nvSpPr>
          <p:cNvPr id="3" name="Text 1"/>
          <p:cNvSpPr>
            <a:spLocks noGrp="1"/>
          </p:cNvSpPr>
          <p:nvPr>
            <p:ph type="title"/>
          </p:nvPr>
        </p:nvSpPr>
        <p:spPr>
          <a:xfrm>
            <a:off x="812800" y="1447800"/>
            <a:ext cx="10883392" cy="102870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Australia has the uranium, but someone else enriches it</a:t>
            </a:r>
            <a:endParaRPr lang="en-US" sz="3600" dirty="0"/>
          </a:p>
        </p:txBody>
      </p:sp>
      <p:sp>
        <p:nvSpPr>
          <p:cNvPr id="4" name="Shape 2"/>
          <p:cNvSpPr/>
          <p:nvPr/>
        </p:nvSpPr>
        <p:spPr>
          <a:xfrm>
            <a:off x="815975" y="2809875"/>
            <a:ext cx="5175250" cy="1924050"/>
          </a:xfrm>
          <a:prstGeom prst="roundRect">
            <a:avLst>
              <a:gd name="adj" fmla="val 5116"/>
            </a:avLst>
          </a:prstGeom>
          <a:solidFill>
            <a:srgbClr val="FFFDF8"/>
          </a:solidFill>
          <a:ln w="6350">
            <a:solidFill>
              <a:srgbClr val="DDD8CC"/>
            </a:solidFill>
            <a:prstDash val="solid"/>
          </a:ln>
        </p:spPr>
        <p:txBody>
          <a:bodyPr/>
          <a:lstStyle/>
          <a:p>
            <a:endParaRPr lang="en-AU"/>
          </a:p>
        </p:txBody>
      </p:sp>
      <p:sp>
        <p:nvSpPr>
          <p:cNvPr id="5" name="Text 3"/>
          <p:cNvSpPr/>
          <p:nvPr/>
        </p:nvSpPr>
        <p:spPr>
          <a:xfrm>
            <a:off x="1098550" y="3092450"/>
            <a:ext cx="474840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F5FA8"/>
                </a:solidFill>
                <a:latin typeface="Space Grotesk" pitchFamily="34" charset="0"/>
                <a:ea typeface="Space Grotesk" pitchFamily="34" charset="-122"/>
                <a:cs typeface="Space Grotesk" pitchFamily="34" charset="-120"/>
              </a:rPr>
              <a:t>28%</a:t>
            </a:r>
            <a:endParaRPr lang="en-US" sz="6000" dirty="0"/>
          </a:p>
        </p:txBody>
      </p:sp>
      <p:sp>
        <p:nvSpPr>
          <p:cNvPr id="6" name="Text 4"/>
          <p:cNvSpPr/>
          <p:nvPr/>
        </p:nvSpPr>
        <p:spPr>
          <a:xfrm>
            <a:off x="1098550" y="3956050"/>
            <a:ext cx="4748403"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of the world’s identified recoverable uranium is in Australia, the largest share</a:t>
            </a:r>
            <a:endParaRPr lang="en-US" sz="1400" dirty="0"/>
          </a:p>
        </p:txBody>
      </p:sp>
      <p:sp>
        <p:nvSpPr>
          <p:cNvPr id="7" name="Shape 5"/>
          <p:cNvSpPr/>
          <p:nvPr/>
        </p:nvSpPr>
        <p:spPr>
          <a:xfrm>
            <a:off x="6200775" y="2809875"/>
            <a:ext cx="5175250" cy="1924050"/>
          </a:xfrm>
          <a:prstGeom prst="roundRect">
            <a:avLst>
              <a:gd name="adj" fmla="val 5116"/>
            </a:avLst>
          </a:prstGeom>
          <a:solidFill>
            <a:srgbClr val="FFFDF8"/>
          </a:solidFill>
          <a:ln w="6350">
            <a:solidFill>
              <a:srgbClr val="DDD8CC"/>
            </a:solidFill>
            <a:prstDash val="solid"/>
          </a:ln>
        </p:spPr>
        <p:txBody>
          <a:bodyPr/>
          <a:lstStyle/>
          <a:p>
            <a:endParaRPr lang="en-AU"/>
          </a:p>
        </p:txBody>
      </p:sp>
      <p:sp>
        <p:nvSpPr>
          <p:cNvPr id="8" name="Text 6"/>
          <p:cNvSpPr/>
          <p:nvPr/>
        </p:nvSpPr>
        <p:spPr>
          <a:xfrm>
            <a:off x="6483350" y="3092450"/>
            <a:ext cx="474840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2410C"/>
                </a:solidFill>
                <a:latin typeface="Space Grotesk" pitchFamily="34" charset="0"/>
                <a:ea typeface="Space Grotesk" pitchFamily="34" charset="-122"/>
                <a:cs typeface="Space Grotesk" pitchFamily="34" charset="-120"/>
              </a:rPr>
              <a:t>43%</a:t>
            </a:r>
            <a:endParaRPr lang="en-US" sz="6000" dirty="0"/>
          </a:p>
        </p:txBody>
      </p:sp>
      <p:sp>
        <p:nvSpPr>
          <p:cNvPr id="9" name="Text 7"/>
          <p:cNvSpPr/>
          <p:nvPr/>
        </p:nvSpPr>
        <p:spPr>
          <a:xfrm>
            <a:off x="6483350" y="3956050"/>
            <a:ext cx="4748403" cy="520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63"/>
                </a:solidFill>
                <a:latin typeface="IBM Plex Sans" pitchFamily="34" charset="0"/>
                <a:ea typeface="IBM Plex Sans" pitchFamily="34" charset="-122"/>
                <a:cs typeface="IBM Plex Sans" pitchFamily="34" charset="-120"/>
              </a:rPr>
              <a:t>of global enrichment capacity is Russian (2025). Australia has none of its own</a:t>
            </a:r>
            <a:endParaRPr lang="en-US" sz="1400" dirty="0"/>
          </a:p>
        </p:txBody>
      </p:sp>
      <p:sp>
        <p:nvSpPr>
          <p:cNvPr id="10" name="Text 8"/>
          <p:cNvSpPr/>
          <p:nvPr/>
        </p:nvSpPr>
        <p:spPr>
          <a:xfrm>
            <a:off x="812800" y="5092700"/>
            <a:ext cx="10137775"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63"/>
                </a:solidFill>
                <a:latin typeface="IBM Plex Sans" pitchFamily="34" charset="0"/>
                <a:ea typeface="IBM Plex Sans" pitchFamily="34" charset="-122"/>
                <a:cs typeface="IBM Plex Sans" pitchFamily="34" charset="-120"/>
              </a:rPr>
              <a:t>Enrichment HHI ≈ </a:t>
            </a:r>
            <a:r>
              <a:rPr lang="en-US" sz="1600" b="1" dirty="0">
                <a:solidFill>
                  <a:srgbClr val="3D4A63"/>
                </a:solidFill>
                <a:latin typeface="IBM Plex Sans" pitchFamily="34" charset="0"/>
                <a:ea typeface="IBM Plex Sans" pitchFamily="34" charset="-122"/>
                <a:cs typeface="IBM Plex Sans" pitchFamily="34" charset="-120"/>
              </a:rPr>
              <a:t>3,000</a:t>
            </a:r>
            <a:r>
              <a:rPr lang="en-US" sz="1600" dirty="0">
                <a:solidFill>
                  <a:srgbClr val="3D4A63"/>
                </a:solidFill>
                <a:latin typeface="IBM Plex Sans" pitchFamily="34" charset="0"/>
                <a:ea typeface="IBM Plex Sans" pitchFamily="34" charset="-122"/>
                <a:cs typeface="IBM Plex Sans" pitchFamily="34" charset="-120"/>
              </a:rPr>
              <a:t>, highly concentrated (above 1,800). </a:t>
            </a:r>
            <a:r>
              <a:rPr lang="en-US" sz="1600" b="1" dirty="0">
                <a:solidFill>
                  <a:srgbClr val="3D4A63"/>
                </a:solidFill>
                <a:latin typeface="IBM Plex Sans" pitchFamily="34" charset="0"/>
                <a:ea typeface="IBM Plex Sans" pitchFamily="34" charset="-122"/>
                <a:cs typeface="IBM Plex Sans" pitchFamily="34" charset="-120"/>
              </a:rPr>
              <a:t>Mitigation:</a:t>
            </a:r>
            <a:r>
              <a:rPr lang="en-US" sz="1600" dirty="0">
                <a:solidFill>
                  <a:srgbClr val="3D4A63"/>
                </a:solidFill>
                <a:latin typeface="IBM Plex Sans" pitchFamily="34" charset="0"/>
                <a:ea typeface="IBM Plex Sans" pitchFamily="34" charset="-122"/>
                <a:cs typeface="IBM Plex Sans" pitchFamily="34" charset="-120"/>
              </a:rPr>
              <a:t> long-term contracts with allied enrichers.</a:t>
            </a:r>
            <a:endParaRPr lang="en-US" sz="1600" dirty="0"/>
          </a:p>
        </p:txBody>
      </p:sp>
      <p:sp>
        <p:nvSpPr>
          <p:cNvPr id="11" name="Text 9"/>
          <p:cNvSpPr/>
          <p:nvPr/>
        </p:nvSpPr>
        <p:spPr>
          <a:xfrm>
            <a:off x="812800" y="6242050"/>
            <a:ext cx="1088339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6B7487"/>
                </a:solidFill>
                <a:latin typeface="IBM Plex Sans" pitchFamily="34" charset="0"/>
                <a:ea typeface="IBM Plex Sans" pitchFamily="34" charset="-122"/>
                <a:cs typeface="IBM Plex Sans" pitchFamily="34" charset="-120"/>
              </a:rPr>
              <a:t>Sources: OECD NEA and IAEA (2025) Uranium 2024: Resources, Production and Demand; World Nuclear Association (2025)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398"/>
          </a:xfrm>
          <a:prstGeom prst="rect">
            <a:avLst/>
          </a:prstGeom>
          <a:noFill/>
          <a:ln/>
        </p:spPr>
        <p:txBody>
          <a:bodyPr wrap="square" lIns="0" tIns="0" rIns="0" bIns="0" rtlCol="0" anchor="t">
            <a:normAutofit/>
          </a:bodyPr>
          <a:lstStyle/>
          <a:p>
            <a:pPr marL="0" indent="0" algn="l">
              <a:lnSpc>
                <a:spcPts val="2149"/>
              </a:lnSpc>
              <a:buNone/>
            </a:pPr>
            <a:r>
              <a:rPr lang="en-US" sz="1535" b="1" kern="0" spc="100" dirty="0">
                <a:solidFill>
                  <a:srgbClr val="E8833A"/>
                </a:solidFill>
                <a:latin typeface="IBM Plex Sans" pitchFamily="34" charset="0"/>
                <a:ea typeface="IBM Plex Sans" pitchFamily="34" charset="-122"/>
                <a:cs typeface="IBM Plex Sans" pitchFamily="34" charset="-120"/>
              </a:rPr>
              <a:t>VERDICT · TRIPLE BOTTOM LINE</a:t>
            </a:r>
            <a:endParaRPr lang="en-US" sz="1535" dirty="0"/>
          </a:p>
        </p:txBody>
      </p:sp>
      <p:sp>
        <p:nvSpPr>
          <p:cNvPr id="3" name="Text 1"/>
          <p:cNvSpPr>
            <a:spLocks noGrp="1"/>
          </p:cNvSpPr>
          <p:nvPr>
            <p:ph type="title"/>
          </p:nvPr>
        </p:nvSpPr>
        <p:spPr>
          <a:xfrm>
            <a:off x="812800" y="1384598"/>
            <a:ext cx="11379200" cy="984151"/>
          </a:xfrm>
          <a:prstGeom prst="rect">
            <a:avLst/>
          </a:prstGeom>
          <a:noFill/>
          <a:ln/>
        </p:spPr>
        <p:txBody>
          <a:bodyPr wrap="square" lIns="0" tIns="0" rIns="0" bIns="0" rtlCol="0" anchor="t">
            <a:normAutofit/>
          </a:bodyPr>
          <a:lstStyle/>
          <a:p>
            <a:pPr marL="0" indent="0" algn="l">
              <a:lnSpc>
                <a:spcPts val="3886"/>
              </a:lnSpc>
              <a:buNone/>
            </a:pPr>
            <a:r>
              <a:rPr lang="en-US" sz="3200" b="1" i="0" dirty="0">
                <a:solidFill>
                  <a:srgbClr val="F6F4EE"/>
                </a:solidFill>
                <a:latin typeface="Space Grotesk" pitchFamily="34" charset="0"/>
                <a:ea typeface="Space Grotesk" pitchFamily="34" charset="-122"/>
                <a:cs typeface="Space Grotesk" pitchFamily="34" charset="-120"/>
              </a:rPr>
              <a:t>Low-carbon electricity, but deployment and materials matter</a:t>
            </a:r>
            <a:endParaRPr lang="en-US" sz="3532"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60848"/>
          <a:ext cx="10553700" cy="2342356"/>
        </p:xfrm>
        <a:graphic>
          <a:graphicData uri="http://schemas.openxmlformats.org/drawingml/2006/table">
            <a:tbl>
              <a:tblPr/>
              <a:tblGrid>
                <a:gridCol w="2321814">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6332220">
                  <a:extLst>
                    <a:ext uri="{9D8B030D-6E8A-4147-A177-3AD203B41FA5}">
                      <a16:colId xmlns:a16="http://schemas.microsoft.com/office/drawing/2014/main" val="20002"/>
                    </a:ext>
                  </a:extLst>
                </a:gridCol>
              </a:tblGrid>
              <a:tr h="395883">
                <a:tc>
                  <a:txBody>
                    <a:bodyPr/>
                    <a:lstStyle/>
                    <a:p>
                      <a:pPr marL="0" indent="0">
                        <a:lnSpc>
                          <a:spcPts val="2034"/>
                        </a:lnSpc>
                        <a:buNone/>
                      </a:pPr>
                      <a:r>
                        <a:rPr lang="en-US" sz="1453" b="1" dirty="0">
                          <a:solidFill>
                            <a:srgbClr val="E8833A"/>
                          </a:solidFill>
                          <a:latin typeface="IBM Plex Sans" pitchFamily="34" charset="0"/>
                          <a:ea typeface="IBM Plex Sans" pitchFamily="34" charset="-122"/>
                          <a:cs typeface="IBM Plex Sans" pitchFamily="34" charset="-120"/>
                        </a:rPr>
                        <a:t>Pillar</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marL="0" indent="0">
                        <a:lnSpc>
                          <a:spcPts val="2034"/>
                        </a:lnSpc>
                        <a:buNone/>
                      </a:pPr>
                      <a:r>
                        <a:rPr lang="en-US" sz="1453" b="1" dirty="0">
                          <a:solidFill>
                            <a:srgbClr val="E8833A"/>
                          </a:solidFill>
                          <a:latin typeface="IBM Plex Sans" pitchFamily="34" charset="0"/>
                          <a:ea typeface="IBM Plex Sans" pitchFamily="34" charset="-122"/>
                          <a:cs typeface="IBM Plex Sans" pitchFamily="34" charset="-120"/>
                        </a:rPr>
                        <a:t>Rating</a:t>
                      </a:r>
                      <a:endParaRPr lang="en-US" sz="1453" dirty="0">
                        <a:latin typeface="IBM Plex Sans" charset="0"/>
                        <a:ea typeface="IBM Plex Sans" charset="0"/>
                        <a:cs typeface="IBM Plex Sans" charset="0"/>
                      </a:endParaRPr>
                    </a:p>
                  </a:txBody>
                  <a:tcPr marL="64591" marR="64591" marT="64591" marB="64591">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marL="0" indent="0">
                        <a:lnSpc>
                          <a:spcPts val="2034"/>
                        </a:lnSpc>
                        <a:buNone/>
                      </a:pPr>
                      <a:r>
                        <a:rPr lang="en-US" sz="1453" b="1" dirty="0">
                          <a:solidFill>
                            <a:srgbClr val="E8833A"/>
                          </a:solidFill>
                          <a:latin typeface="IBM Plex Sans" pitchFamily="34" charset="0"/>
                          <a:ea typeface="IBM Plex Sans" pitchFamily="34" charset="-122"/>
                          <a:cs typeface="IBM Plex Sans" pitchFamily="34" charset="-120"/>
                        </a:rPr>
                        <a:t>Why</a:t>
                      </a:r>
                      <a:endParaRPr lang="en-US" sz="1453" dirty="0">
                        <a:latin typeface="IBM Plex Sans" charset="0"/>
                        <a:ea typeface="IBM Plex Sans" charset="0"/>
                        <a:cs typeface="IBM Plex Sans" charset="0"/>
                      </a:endParaRPr>
                    </a:p>
                  </a:txBody>
                  <a:tcPr marL="64591" marR="64591" marT="64591" marB="64591">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extLst>
                  <a:ext uri="{0D108BD9-81ED-4DB2-BD59-A6C34878D82A}">
                    <a16:rowId xmlns:a16="http://schemas.microsoft.com/office/drawing/2014/main" val="10000"/>
                  </a:ext>
                </a:extLst>
              </a:tr>
              <a:tr h="648791">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Environmental</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Mixed</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340" dirty="0">
                          <a:solidFill>
                            <a:srgbClr val="DCE3EE"/>
                          </a:solidFill>
                          <a:latin typeface="IBM Plex Sans" pitchFamily="34" charset="0"/>
                          <a:ea typeface="IBM Plex Sans" pitchFamily="34" charset="-122"/>
                          <a:cs typeface="IBM Plex Sans" pitchFamily="34" charset="-120"/>
                        </a:rPr>
                        <a:t>Nuclear is low-carbon; LC³ may lower construction CO₂ in approved applications.</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extLst>
                  <a:ext uri="{0D108BD9-81ED-4DB2-BD59-A6C34878D82A}">
                    <a16:rowId xmlns:a16="http://schemas.microsoft.com/office/drawing/2014/main" val="10001"/>
                  </a:ext>
                </a:extLst>
              </a:tr>
              <a:tr h="648791">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Economic</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Weak</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340" dirty="0">
                          <a:solidFill>
                            <a:srgbClr val="DCE3EE"/>
                          </a:solidFill>
                          <a:latin typeface="IBM Plex Sans" pitchFamily="34" charset="0"/>
                          <a:ea typeface="IBM Plex Sans" pitchFamily="34" charset="-122"/>
                          <a:cs typeface="IBM Plex Sans" pitchFamily="34" charset="-120"/>
                        </a:rPr>
                        <a:t>High capital and delivery risk; LC³ must not raise cost or slow construction.</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extLst>
                  <a:ext uri="{0D108BD9-81ED-4DB2-BD59-A6C34878D82A}">
                    <a16:rowId xmlns:a16="http://schemas.microsoft.com/office/drawing/2014/main" val="10002"/>
                  </a:ext>
                </a:extLst>
              </a:tr>
              <a:tr h="648891">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Social</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453" dirty="0">
                          <a:solidFill>
                            <a:srgbClr val="DCE3EE"/>
                          </a:solidFill>
                          <a:latin typeface="IBM Plex Sans" pitchFamily="34" charset="0"/>
                          <a:ea typeface="IBM Plex Sans" pitchFamily="34" charset="-122"/>
                          <a:cs typeface="IBM Plex Sans" pitchFamily="34" charset="-120"/>
                        </a:rPr>
                        <a:t>Mixed</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marL="0" indent="0">
                        <a:lnSpc>
                          <a:spcPts val="2034"/>
                        </a:lnSpc>
                        <a:buNone/>
                      </a:pPr>
                      <a:r>
                        <a:rPr lang="en-US" sz="1340" dirty="0">
                          <a:solidFill>
                            <a:srgbClr val="DCE3EE"/>
                          </a:solidFill>
                          <a:latin typeface="IBM Plex Sans" pitchFamily="34" charset="0"/>
                          <a:ea typeface="IBM Plex Sans" pitchFamily="34" charset="-122"/>
                          <a:cs typeface="IBM Plex Sans" pitchFamily="34" charset="-120"/>
                        </a:rPr>
                        <a:t>Safety, nuclear waste, local consent and skilled supply chains need attention.</a:t>
                      </a:r>
                      <a:endParaRPr lang="en-US" sz="1453" dirty="0">
                        <a:latin typeface="IBM Plex Sans" charset="0"/>
                        <a:ea typeface="IBM Plex Sans" charset="0"/>
                        <a:cs typeface="IBM Plex Sans" charset="0"/>
                      </a:endParaRPr>
                    </a:p>
                  </a:txBody>
                  <a:tcPr marL="64591" marR="64591" marT="64591" marB="64591">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5308005"/>
            <a:ext cx="10137775" cy="559395"/>
          </a:xfrm>
          <a:prstGeom prst="rect">
            <a:avLst/>
          </a:prstGeom>
          <a:noFill/>
          <a:ln/>
        </p:spPr>
        <p:txBody>
          <a:bodyPr wrap="square" lIns="0" tIns="0" rIns="0" bIns="0" rtlCol="0" anchor="t">
            <a:normAutofit/>
          </a:bodyPr>
          <a:lstStyle/>
          <a:p>
            <a:pPr marL="0" indent="0" algn="l">
              <a:lnSpc>
                <a:spcPts val="2149"/>
              </a:lnSpc>
              <a:buNone/>
            </a:pPr>
            <a:r>
              <a:rPr lang="en-US" sz="1500" dirty="0">
                <a:solidFill>
                  <a:srgbClr val="DCE3EE"/>
                </a:solidFill>
                <a:latin typeface="IBM Plex Sans" pitchFamily="34" charset="0"/>
                <a:ea typeface="IBM Plex Sans" pitchFamily="34" charset="-122"/>
                <a:cs typeface="IBM Plex Sans" pitchFamily="34" charset="-120"/>
              </a:rPr>
              <a:t>Darlington: trial LC³ in suitable works and qualify it before safety-critical use. Liddell: cost, law and realistic timing dominate the Australian case.</a:t>
            </a:r>
            <a:endParaRPr lang="en-US" sz="153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1275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213D"/>
                </a:solidFill>
                <a:latin typeface="Space Grotesk" pitchFamily="34" charset="0"/>
                <a:ea typeface="Space Grotesk" pitchFamily="34" charset="-122"/>
                <a:cs typeface="Space Grotesk" pitchFamily="34" charset="-120"/>
              </a:rPr>
              <a:t>References</a:t>
            </a:r>
            <a:endParaRPr lang="en-US" sz="2800" dirty="0"/>
          </a:p>
        </p:txBody>
      </p:sp>
      <p:sp>
        <p:nvSpPr>
          <p:cNvPr id="3" name="Text 1"/>
          <p:cNvSpPr/>
          <p:nvPr/>
        </p:nvSpPr>
        <p:spPr>
          <a:xfrm>
            <a:off x="812800" y="1200150"/>
            <a:ext cx="5284724"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CSIRO, 2026. GenCost 2025–26 Final Report. Canberra: CSIRO.</a:t>
            </a:r>
            <a:endParaRPr lang="en-US" sz="1200" dirty="0"/>
          </a:p>
        </p:txBody>
      </p:sp>
      <p:sp>
        <p:nvSpPr>
          <p:cNvPr id="4" name="Text 2"/>
          <p:cNvSpPr/>
          <p:nvPr/>
        </p:nvSpPr>
        <p:spPr>
          <a:xfrm>
            <a:off x="812800" y="13970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DCCEEW, 2025. Australian National Greenhouse Accounts Factors 2025. Canberra: Commonwealth of Australia.</a:t>
            </a:r>
            <a:endParaRPr lang="en-US" sz="1200" dirty="0"/>
          </a:p>
        </p:txBody>
      </p:sp>
      <p:sp>
        <p:nvSpPr>
          <p:cNvPr id="5" name="Text 3"/>
          <p:cNvSpPr/>
          <p:nvPr/>
        </p:nvSpPr>
        <p:spPr>
          <a:xfrm>
            <a:off x="812800" y="17907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GE Hitachi Nuclear Energy, 2021. BWRX-300 Small Modular Reactor. Alberta Innovates SMR Learning Series.</a:t>
            </a:r>
            <a:endParaRPr lang="en-US" sz="1200" dirty="0"/>
          </a:p>
        </p:txBody>
      </p:sp>
      <p:sp>
        <p:nvSpPr>
          <p:cNvPr id="6" name="Text 4"/>
          <p:cNvSpPr/>
          <p:nvPr/>
        </p:nvSpPr>
        <p:spPr>
          <a:xfrm>
            <a:off x="812800" y="21844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Krall, L.M., Macfarlane, A.M. and Ewing, R.C., 2022. Nuclear waste from small modular reactors. PNAS, 119(23), e2111833119.</a:t>
            </a:r>
            <a:endParaRPr lang="en-US" sz="1200" dirty="0"/>
          </a:p>
        </p:txBody>
      </p:sp>
      <p:sp>
        <p:nvSpPr>
          <p:cNvPr id="7" name="Text 5"/>
          <p:cNvSpPr/>
          <p:nvPr/>
        </p:nvSpPr>
        <p:spPr>
          <a:xfrm>
            <a:off x="812800" y="2578100"/>
            <a:ext cx="5284724"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Lowy Institute, 2024. Lowy Institute Poll 2024. Sydney: Lowy Institute.</a:t>
            </a:r>
            <a:endParaRPr lang="en-US" sz="1200" dirty="0"/>
          </a:p>
        </p:txBody>
      </p:sp>
      <p:sp>
        <p:nvSpPr>
          <p:cNvPr id="8" name="Text 6"/>
          <p:cNvSpPr/>
          <p:nvPr/>
        </p:nvSpPr>
        <p:spPr>
          <a:xfrm>
            <a:off x="812800" y="277495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NucNet, 2025. Canada’s regulator issues construction licence for Darlington small modular reactor.</a:t>
            </a:r>
            <a:endParaRPr lang="en-US" sz="1200" dirty="0"/>
          </a:p>
        </p:txBody>
      </p:sp>
      <p:sp>
        <p:nvSpPr>
          <p:cNvPr id="9" name="Text 7"/>
          <p:cNvSpPr/>
          <p:nvPr/>
        </p:nvSpPr>
        <p:spPr>
          <a:xfrm>
            <a:off x="812800" y="316865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OECD NEA and IAEA, 2025. Uranium 2024: Resources, Production and Demand. Paris: OECD Publishing.</a:t>
            </a:r>
            <a:endParaRPr lang="en-US" sz="1200" dirty="0"/>
          </a:p>
        </p:txBody>
      </p:sp>
      <p:sp>
        <p:nvSpPr>
          <p:cNvPr id="10" name="Text 8"/>
          <p:cNvSpPr/>
          <p:nvPr/>
        </p:nvSpPr>
        <p:spPr>
          <a:xfrm>
            <a:off x="6248400" y="120015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Ontario Government, 2024. Ontario energy snapshot. Toronto: Government of Ontario.</a:t>
            </a:r>
            <a:endParaRPr lang="en-US" sz="1200" dirty="0"/>
          </a:p>
        </p:txBody>
      </p:sp>
      <p:sp>
        <p:nvSpPr>
          <p:cNvPr id="11" name="Text 9"/>
          <p:cNvSpPr/>
          <p:nvPr/>
        </p:nvSpPr>
        <p:spPr>
          <a:xfrm>
            <a:off x="6248400" y="1593850"/>
            <a:ext cx="5284724"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Our World in Data, 2024. Death rates per unit of electricity production.</a:t>
            </a:r>
            <a:endParaRPr lang="en-US" sz="1200" dirty="0"/>
          </a:p>
        </p:txBody>
      </p:sp>
      <p:sp>
        <p:nvSpPr>
          <p:cNvPr id="12" name="Text 10"/>
          <p:cNvSpPr/>
          <p:nvPr/>
        </p:nvSpPr>
        <p:spPr>
          <a:xfrm>
            <a:off x="6248400" y="17907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Scrivener, K., Martirena, F., Bishnoi, S. and Maity, S., 2018. Calcined clay limestone cements (LC3). Cement and Concrete Research, 114, pp.49–56.</a:t>
            </a:r>
            <a:endParaRPr lang="en-US" sz="1200" dirty="0"/>
          </a:p>
        </p:txBody>
      </p:sp>
      <p:sp>
        <p:nvSpPr>
          <p:cNvPr id="13" name="Text 11"/>
          <p:cNvSpPr/>
          <p:nvPr/>
        </p:nvSpPr>
        <p:spPr>
          <a:xfrm>
            <a:off x="6248400" y="21844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Power Engineering, 2023. Facing mounting costs, NuScale cancels small modular reactor project in Utah.</a:t>
            </a:r>
            <a:endParaRPr lang="en-US" sz="1200" dirty="0"/>
          </a:p>
        </p:txBody>
      </p:sp>
      <p:sp>
        <p:nvSpPr>
          <p:cNvPr id="14" name="Text 12"/>
          <p:cNvSpPr/>
          <p:nvPr/>
        </p:nvSpPr>
        <p:spPr>
          <a:xfrm>
            <a:off x="6248400" y="25781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UNECE, 2021. Life Cycle Assessment of Electricity Generation Options. Geneva: United Nations.</a:t>
            </a:r>
            <a:endParaRPr lang="en-US" sz="1200" dirty="0"/>
          </a:p>
        </p:txBody>
      </p:sp>
      <p:sp>
        <p:nvSpPr>
          <p:cNvPr id="15" name="Text 13"/>
          <p:cNvSpPr/>
          <p:nvPr/>
        </p:nvSpPr>
        <p:spPr>
          <a:xfrm>
            <a:off x="6248400" y="29718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World Nuclear Association, 2025. Uranium Enrichment; Conversion and Deconversion. London: WNA.</a:t>
            </a:r>
            <a:endParaRPr lang="en-US" sz="1200" dirty="0"/>
          </a:p>
        </p:txBody>
      </p:sp>
      <p:sp>
        <p:nvSpPr>
          <p:cNvPr id="16" name="Text 14"/>
          <p:cNvSpPr/>
          <p:nvPr/>
        </p:nvSpPr>
        <p:spPr>
          <a:xfrm>
            <a:off x="6248400" y="33655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World Nuclear News, 2022. OPG applies for construction licence for Darlington SMR.</a:t>
            </a:r>
            <a:endParaRPr lang="en-US" sz="1200" dirty="0"/>
          </a:p>
        </p:txBody>
      </p:sp>
      <p:sp>
        <p:nvSpPr>
          <p:cNvPr id="17" name="Text 15"/>
          <p:cNvSpPr/>
          <p:nvPr/>
        </p:nvSpPr>
        <p:spPr>
          <a:xfrm>
            <a:off x="6248400" y="3759200"/>
            <a:ext cx="5284724"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World Nuclear News, 2025. OPG secures government equity financing for SMR project.</a:t>
            </a:r>
            <a:endParaRPr lang="en-US" sz="1200" dirty="0"/>
          </a:p>
        </p:txBody>
      </p:sp>
      <p:sp>
        <p:nvSpPr>
          <p:cNvPr id="18" name="Text 16"/>
          <p:cNvSpPr/>
          <p:nvPr/>
        </p:nvSpPr>
        <p:spPr>
          <a:xfrm>
            <a:off x="6248400" y="4152900"/>
            <a:ext cx="5284724" cy="6159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63"/>
                </a:solidFill>
                <a:latin typeface="IBM Plex Sans" pitchFamily="34" charset="0"/>
                <a:ea typeface="IBM Plex Sans" pitchFamily="34" charset="-122"/>
                <a:cs typeface="IBM Plex Sans" pitchFamily="34" charset="-120"/>
              </a:rPr>
              <a:t>Environment Protection and Biodiversity Conservation Act 1999 (Cth) s140A; Australian Radiation Protection and Nuclear Safety Act 1998 (Cth) s10.</a:t>
            </a:r>
            <a:endParaRPr lang="en-US" sz="1200" dirty="0"/>
          </a:p>
        </p:txBody>
      </p:sp>
      <p:sp>
        <p:nvSpPr>
          <p:cNvPr id="19" name="TextBox 18"/>
          <p:cNvSpPr txBox="1"/>
          <p:nvPr/>
        </p:nvSpPr>
        <p:spPr>
          <a:xfrm>
            <a:off x="813816" y="3685032"/>
            <a:ext cx="5230368" cy="566928"/>
          </a:xfrm>
          <a:prstGeom prst="rect">
            <a:avLst/>
          </a:prstGeom>
          <a:noFill/>
        </p:spPr>
        <p:txBody>
          <a:bodyPr wrap="square" lIns="0" tIns="13716" rIns="0" bIns="13716" anchor="t">
            <a:spAutoFit/>
          </a:bodyPr>
          <a:lstStyle/>
          <a:p>
            <a:pPr algn="l">
              <a:spcBef>
                <a:spcPts val="0"/>
              </a:spcBef>
              <a:spcAft>
                <a:spcPts val="0"/>
              </a:spcAft>
            </a:pPr>
            <a:r>
              <a:rPr sz="1100" b="0" dirty="0">
                <a:solidFill>
                  <a:srgbClr val="3D4A63"/>
                </a:solidFill>
                <a:latin typeface="IBM Plex Sans"/>
              </a:rPr>
              <a:t>BWRX-300 </a:t>
            </a:r>
            <a:r>
              <a:rPr sz="1100" b="0" dirty="0" err="1">
                <a:solidFill>
                  <a:srgbClr val="3D4A63"/>
                </a:solidFill>
                <a:latin typeface="IBM Plex Sans"/>
              </a:rPr>
              <a:t>Ostrołęka</a:t>
            </a:r>
            <a:r>
              <a:rPr sz="1100" b="0" dirty="0">
                <a:solidFill>
                  <a:srgbClr val="3D4A63"/>
                </a:solidFill>
                <a:latin typeface="IBM Plex Sans"/>
              </a:rPr>
              <a:t> sp. z </a:t>
            </a:r>
            <a:r>
              <a:rPr sz="1100" b="0" dirty="0" err="1">
                <a:solidFill>
                  <a:srgbClr val="3D4A63"/>
                </a:solidFill>
                <a:latin typeface="IBM Plex Sans"/>
              </a:rPr>
              <a:t>o.o.</a:t>
            </a:r>
            <a:r>
              <a:rPr sz="1100" b="0" dirty="0">
                <a:solidFill>
                  <a:srgbClr val="3D4A63"/>
                </a:solidFill>
                <a:latin typeface="IBM Plex Sans"/>
              </a:rPr>
              <a:t>, 2023. Small Modular Nuclear Power Plant: Project Information Sheet, Table 14, p. 83.</a:t>
            </a:r>
          </a:p>
        </p:txBody>
      </p:sp>
      <p:sp>
        <p:nvSpPr>
          <p:cNvPr id="20" name="TextBox 19"/>
          <p:cNvSpPr txBox="1"/>
          <p:nvPr/>
        </p:nvSpPr>
        <p:spPr>
          <a:xfrm>
            <a:off x="813816" y="4334256"/>
            <a:ext cx="5230368" cy="594360"/>
          </a:xfrm>
          <a:prstGeom prst="rect">
            <a:avLst/>
          </a:prstGeom>
          <a:noFill/>
        </p:spPr>
        <p:txBody>
          <a:bodyPr wrap="square" lIns="0" tIns="13716" rIns="0" bIns="13716" anchor="t">
            <a:spAutoFit/>
          </a:bodyPr>
          <a:lstStyle/>
          <a:p>
            <a:pPr algn="l">
              <a:spcBef>
                <a:spcPts val="0"/>
              </a:spcBef>
              <a:spcAft>
                <a:spcPts val="0"/>
              </a:spcAft>
            </a:pPr>
            <a:r>
              <a:rPr sz="1100" b="0" dirty="0">
                <a:solidFill>
                  <a:srgbClr val="3D4A63"/>
                </a:solidFill>
                <a:latin typeface="IBM Plex Sans"/>
              </a:rPr>
              <a:t>CSA Group, 2026. CSA N287.2-2026: Material requirements for concrete containment structures for nuclear power plants.</a:t>
            </a:r>
          </a:p>
        </p:txBody>
      </p:sp>
      <p:sp>
        <p:nvSpPr>
          <p:cNvPr id="21" name="TextBox 20"/>
          <p:cNvSpPr txBox="1"/>
          <p:nvPr/>
        </p:nvSpPr>
        <p:spPr>
          <a:xfrm>
            <a:off x="813816" y="5020056"/>
            <a:ext cx="5230368" cy="594360"/>
          </a:xfrm>
          <a:prstGeom prst="rect">
            <a:avLst/>
          </a:prstGeom>
          <a:noFill/>
        </p:spPr>
        <p:txBody>
          <a:bodyPr wrap="square" lIns="0" tIns="13716" rIns="0" bIns="13716" anchor="t">
            <a:spAutoFit/>
          </a:bodyPr>
          <a:lstStyle/>
          <a:p>
            <a:pPr algn="l">
              <a:spcBef>
                <a:spcPts val="0"/>
              </a:spcBef>
              <a:spcAft>
                <a:spcPts val="0"/>
              </a:spcAft>
            </a:pPr>
            <a:r>
              <a:rPr sz="1100" b="0" dirty="0">
                <a:solidFill>
                  <a:srgbClr val="3D4A63"/>
                </a:solidFill>
                <a:latin typeface="IBM Plex Sans"/>
              </a:rPr>
              <a:t>Canadian Nuclear Safety Commission, 2026. Darlington New Nuclear Project: </a:t>
            </a:r>
            <a:r>
              <a:rPr sz="1100" b="0" dirty="0" err="1">
                <a:solidFill>
                  <a:srgbClr val="3D4A63"/>
                </a:solidFill>
                <a:latin typeface="IBM Plex Sans"/>
              </a:rPr>
              <a:t>licences</a:t>
            </a:r>
            <a:r>
              <a:rPr sz="1100" b="0" dirty="0">
                <a:solidFill>
                  <a:srgbClr val="3D4A63"/>
                </a:solidFill>
                <a:latin typeface="IBM Plex Sans"/>
              </a:rPr>
              <a:t> and regulatory hold points.</a:t>
            </a:r>
          </a:p>
        </p:txBody>
      </p:sp>
      <p:sp>
        <p:nvSpPr>
          <p:cNvPr id="22" name="TextBox 21"/>
          <p:cNvSpPr txBox="1"/>
          <p:nvPr/>
        </p:nvSpPr>
        <p:spPr>
          <a:xfrm>
            <a:off x="813816" y="5687568"/>
            <a:ext cx="5330952" cy="676656"/>
          </a:xfrm>
          <a:prstGeom prst="rect">
            <a:avLst/>
          </a:prstGeom>
          <a:noFill/>
        </p:spPr>
        <p:txBody>
          <a:bodyPr wrap="square" lIns="0" tIns="9144" rIns="0" bIns="9144" anchor="ctr">
            <a:spAutoFit/>
          </a:bodyPr>
          <a:lstStyle/>
          <a:p>
            <a:pPr algn="l">
              <a:spcBef>
                <a:spcPts val="0"/>
              </a:spcBef>
              <a:spcAft>
                <a:spcPts val="0"/>
              </a:spcAft>
            </a:pPr>
            <a:r>
              <a:rPr sz="1000" b="0" dirty="0">
                <a:solidFill>
                  <a:srgbClr val="3D4A63"/>
                </a:solidFill>
                <a:latin typeface="IBM Plex Sans"/>
              </a:rPr>
              <a:t>Pillai, R.G. et al. 2019, ‘Service life and life cycle assessment of reinforced concrete systems with limestone calcined clay cement (LC³)’, Cement and Concrete Research, vol. 118, pp. 111–119. doi:10.1016/j.cemconres.2018.11.019.</a:t>
            </a:r>
          </a:p>
        </p:txBody>
      </p:sp>
    </p:spTree>
  </p:cSld>
  <p:clrMapOvr>
    <a:masterClrMapping/>
  </p:clrMapOvr>
</p:sld>
</file>

<file path=ppt/theme/theme1.xml><?xml version="1.0" encoding="utf-8"?>
<a:theme xmlns:a="http://schemas.openxmlformats.org/drawingml/2006/main" name="Small Modular Reactors: Where They Help and What Holds Them Back">
  <a:themeElements>
    <a:clrScheme name="Small Modular Reactors: Where They Help and What Holds Them Back">
      <a:dk1>
        <a:srgbClr val="14213D"/>
      </a:dk1>
      <a:lt1>
        <a:srgbClr val="F6F4EE"/>
      </a:lt1>
      <a:dk2>
        <a:srgbClr val="4D5669"/>
      </a:dk2>
      <a:lt2>
        <a:srgbClr val="DFDFDC"/>
      </a:lt2>
      <a:accent1>
        <a:srgbClr val="C2410C"/>
      </a:accent1>
      <a:accent2>
        <a:srgbClr val="1F5FA8"/>
      </a:accent2>
      <a:accent3>
        <a:srgbClr val="E8833A"/>
      </a:accent3>
      <a:accent4>
        <a:srgbClr val="FBE3D0"/>
      </a:accent4>
      <a:accent5>
        <a:srgbClr val="3D4A63"/>
      </a:accent5>
      <a:accent6>
        <a:srgbClr val="6B7487"/>
      </a:accent6>
      <a:hlink>
        <a:srgbClr val="0563C1"/>
      </a:hlink>
      <a:folHlink>
        <a:srgbClr val="954F72"/>
      </a:folHlink>
    </a:clrScheme>
    <a:fontScheme name="Small Modular Reactors: Where They Help and What Holds Them Bac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4668</Words>
  <Application>Microsoft Office PowerPoint</Application>
  <PresentationFormat>Widescreen</PresentationFormat>
  <Paragraphs>205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Space Grotesk</vt:lpstr>
      <vt:lpstr>Arial</vt:lpstr>
      <vt:lpstr>IBM Plex Sans</vt:lpstr>
      <vt:lpstr>Small Modular Reactors: Where They Help and What Holds Them Back</vt:lpstr>
      <vt:lpstr>Small modular reactors</vt:lpstr>
      <vt:lpstr>Coal is closing. What replaces its firm power?</vt:lpstr>
      <vt:lpstr>The BWRX-300: a smaller, simpler boiling water reactor</vt:lpstr>
      <vt:lpstr>Darlington, Ontario: the first SMR in the G7</vt:lpstr>
      <vt:lpstr>Pilot low-clinker LC³ concrete for future Darlington Units 2–4</vt:lpstr>
      <vt:lpstr>Our assessment: full life-cycle boundary, materials quantified</vt:lpstr>
      <vt:lpstr>PowerPoint Presentation</vt:lpstr>
      <vt:lpstr>PowerPoint Presentation</vt:lpstr>
      <vt:lpstr>Illustrative grid averages: NSW offers greater CO₂ savings</vt:lpstr>
      <vt:lpstr>Nuclear power is banned in Australia today</vt:lpstr>
      <vt:lpstr>SMRs are the most expensive new power in Australia</vt:lpstr>
      <vt:lpstr>Most Australians back nuclear, but trust is fragile</vt:lpstr>
      <vt:lpstr>Australia has the uranium, but someone else enriches it</vt:lpstr>
      <vt:lpstr>Low-carbon electricity, but deployment and materials matter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 Modular Reactors: Where They Help and What Holds Them Back</dc:title>
  <dc:subject/>
  <dc:creator/>
  <cp:lastModifiedBy>Leroy Jean</cp:lastModifiedBy>
  <cp:revision>3</cp:revision>
  <dcterms:created xsi:type="dcterms:W3CDTF">2026-10-20T11:38:55Z</dcterms:created>
  <dcterms:modified xsi:type="dcterms:W3CDTF">2026-10-20T12:56:44Z</dcterms:modified>
</cp:coreProperties>
</file>